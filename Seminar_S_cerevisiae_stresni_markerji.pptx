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19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70" r:id="rId15"/>
    <p:sldId id="267" r:id="rId16"/>
    <p:sldId id="268" r:id="rId17"/>
    <p:sldId id="269" r:id="rId1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F746C"/>
    <a:srgbClr val="F200FF"/>
    <a:srgbClr val="00FF55"/>
    <a:srgbClr val="C44B45"/>
    <a:srgbClr val="45C48B"/>
    <a:srgbClr val="45C476"/>
    <a:srgbClr val="0F2E2C"/>
    <a:srgbClr val="0A423E"/>
    <a:srgbClr val="0E615A"/>
    <a:srgbClr val="FFFCF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EE1FFAE-9906-4764-B40F-CF614FD6980F}" v="54" dt="2026-05-17T15:18:55.852"/>
    <p1510:client id="{62CA925A-946C-7629-6DCC-AC90569C5499}" v="779" dt="2026-05-17T21:01:34.026"/>
    <p1510:client id="{78EE457C-A75F-6F67-A25F-DD6FB8F3B99D}" v="21" dt="2026-05-17T19:06:59.010"/>
    <p1510:client id="{AFDAC490-A86B-9E74-BC72-F49ABE9BEF6E}" v="568" dt="2026-05-17T22:24:06.17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" Type="http://schemas.openxmlformats.org/officeDocument/2006/relationships/customXml" Target="../customXml/item3.xml"/><Relationship Id="rId21" Type="http://schemas.openxmlformats.org/officeDocument/2006/relationships/viewProps" Target="view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microsoft.com/office/2015/10/relationships/revisionInfo" Target="revisionInfo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7276647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2E4B4F-336A-678E-F197-A273AF78CA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65BE711-AE73-454F-49FD-25431F09326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2868EC7-AC0F-A6C9-ED8F-4032F563B04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28D4A37-BE17-2B60-3337-EC8BEE589EB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483799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DBA925-9EF5-81EA-A5DB-394C933C59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70EA17C-F81B-B134-3FE1-BB8F8334F47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CC77F0C-8F7A-1652-70C5-F76E4756AAC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26DF4C4-5B8F-F213-8646-168007EE554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550754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sv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2E2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548640" y="1188720"/>
            <a:ext cx="640080" cy="7315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SI"/>
          </a:p>
        </p:txBody>
      </p:sp>
      <p:pic>
        <p:nvPicPr>
          <p:cNvPr id="14" name="Picture 13" descr="A group of round objects&#10;&#10;AI-generated content may be incorrect.">
            <a:extLst>
              <a:ext uri="{FF2B5EF4-FFF2-40B4-BE49-F238E27FC236}">
                <a16:creationId xmlns:a16="http://schemas.microsoft.com/office/drawing/2014/main" id="{776D5ABF-EF8A-E67D-B20D-879175BAFF0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16964" y="0"/>
            <a:ext cx="10621202" cy="68580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48640" y="13716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600">
                <a:solidFill>
                  <a:srgbClr val="5EEAD4"/>
                </a:solidFill>
                <a:ea typeface="Calibri" pitchFamily="34" charset="-122"/>
                <a:cs typeface="Calibri" pitchFamily="34" charset="-120"/>
              </a:rPr>
              <a:t>SEMINAR | FUNKCIJSKA GENOMIKA</a:t>
            </a:r>
            <a:endParaRPr lang="en-US" sz="1400"/>
          </a:p>
        </p:txBody>
      </p:sp>
      <p:sp>
        <p:nvSpPr>
          <p:cNvPr id="5" name="Text 2"/>
          <p:cNvSpPr/>
          <p:nvPr/>
        </p:nvSpPr>
        <p:spPr>
          <a:xfrm>
            <a:off x="548640" y="1828800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400" b="1">
                <a:solidFill>
                  <a:srgbClr val="FFFFFF"/>
                </a:solidFill>
                <a:ea typeface="Calibri" pitchFamily="34" charset="-122"/>
                <a:cs typeface="Calibri" pitchFamily="34" charset="-120"/>
              </a:rPr>
              <a:t>Univerzalni stresni markerji</a:t>
            </a:r>
            <a:endParaRPr lang="en-US" sz="5400"/>
          </a:p>
        </p:txBody>
      </p:sp>
      <p:sp>
        <p:nvSpPr>
          <p:cNvPr id="6" name="Text 3"/>
          <p:cNvSpPr/>
          <p:nvPr/>
        </p:nvSpPr>
        <p:spPr>
          <a:xfrm>
            <a:off x="548640" y="278892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i="1">
                <a:solidFill>
                  <a:srgbClr val="5EEAD4"/>
                </a:solidFill>
                <a:ea typeface="Calibri" pitchFamily="34" charset="-122"/>
                <a:cs typeface="Calibri" pitchFamily="34" charset="-120"/>
              </a:rPr>
              <a:t>pri kvasovki Saccharomyces cerevisiae</a:t>
            </a:r>
            <a:endParaRPr lang="en-US" sz="2800"/>
          </a:p>
        </p:txBody>
      </p:sp>
      <p:sp>
        <p:nvSpPr>
          <p:cNvPr id="7" name="Text 4"/>
          <p:cNvSpPr/>
          <p:nvPr/>
        </p:nvSpPr>
        <p:spPr>
          <a:xfrm>
            <a:off x="548640" y="365760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Iskanje genov skupnega odziva v treh stresnih pogojih z uporabo single-cell RNA-seq analize</a:t>
            </a:r>
            <a:endParaRPr lang="en-US" sz="1600"/>
          </a:p>
        </p:txBody>
      </p:sp>
      <p:sp>
        <p:nvSpPr>
          <p:cNvPr id="8" name="Shape 5"/>
          <p:cNvSpPr/>
          <p:nvPr/>
        </p:nvSpPr>
        <p:spPr>
          <a:xfrm>
            <a:off x="548640" y="4937760"/>
            <a:ext cx="36576" cy="11887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SI"/>
          </a:p>
        </p:txBody>
      </p:sp>
      <p:sp>
        <p:nvSpPr>
          <p:cNvPr id="9" name="Text 6"/>
          <p:cNvSpPr/>
          <p:nvPr/>
        </p:nvSpPr>
        <p:spPr>
          <a:xfrm>
            <a:off x="731520" y="493776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Aljaž Kos</a:t>
            </a:r>
            <a:r>
              <a:rPr lang="sl-SI" sz="20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Simon Kristl</a:t>
            </a:r>
            <a:endParaRPr lang="en-US" sz="2000"/>
          </a:p>
        </p:txBody>
      </p:sp>
      <p:sp>
        <p:nvSpPr>
          <p:cNvPr id="10" name="Text 7"/>
          <p:cNvSpPr/>
          <p:nvPr/>
        </p:nvSpPr>
        <p:spPr>
          <a:xfrm>
            <a:off x="731520" y="53949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Funkcijska genomika  •  3. letnik</a:t>
            </a:r>
            <a:endParaRPr lang="en-US" sz="1300"/>
          </a:p>
        </p:txBody>
      </p:sp>
      <p:sp>
        <p:nvSpPr>
          <p:cNvPr id="11" name="Text 8"/>
          <p:cNvSpPr/>
          <p:nvPr/>
        </p:nvSpPr>
        <p:spPr>
          <a:xfrm>
            <a:off x="731520" y="57607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GEO: GSE201386 </a:t>
            </a:r>
            <a:endParaRPr lang="en-US" sz="12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EF9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UVOD</a:t>
            </a:r>
            <a:endParaRPr lang="en-US" sz="1100"/>
          </a:p>
        </p:txBody>
      </p:sp>
      <p:sp>
        <p:nvSpPr>
          <p:cNvPr id="3" name="Text 1"/>
          <p:cNvSpPr/>
          <p:nvPr/>
        </p:nvSpPr>
        <p:spPr>
          <a:xfrm>
            <a:off x="548640" y="54864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sl-SI" sz="3000" b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Zastava eksperimenta</a:t>
            </a:r>
            <a:endParaRPr lang="en-US" sz="3000"/>
          </a:p>
        </p:txBody>
      </p:sp>
      <p:sp>
        <p:nvSpPr>
          <p:cNvPr id="4" name="Shape 2"/>
          <p:cNvSpPr/>
          <p:nvPr/>
        </p:nvSpPr>
        <p:spPr>
          <a:xfrm>
            <a:off x="548640" y="1234440"/>
            <a:ext cx="548640" cy="5486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SI"/>
          </a:p>
        </p:txBody>
      </p:sp>
      <p:sp>
        <p:nvSpPr>
          <p:cNvPr id="5" name="Text 3"/>
          <p:cNvSpPr/>
          <p:nvPr/>
        </p:nvSpPr>
        <p:spPr>
          <a:xfrm>
            <a:off x="548640" y="1554480"/>
            <a:ext cx="5943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Analiza genske ekspresije omogoča vpogled v spremembe izražanja genov glede na okoljske spremembe.</a:t>
            </a:r>
            <a:endParaRPr lang="en-US" sz="1600"/>
          </a:p>
        </p:txBody>
      </p:sp>
      <p:sp>
        <p:nvSpPr>
          <p:cNvPr id="6" name="Text 4"/>
          <p:cNvSpPr/>
          <p:nvPr/>
        </p:nvSpPr>
        <p:spPr>
          <a:xfrm>
            <a:off x="548640" y="2606040"/>
            <a:ext cx="5943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20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Vprašanje:</a:t>
            </a:r>
            <a:endParaRPr lang="en-US" sz="1400" b="1"/>
          </a:p>
        </p:txBody>
      </p:sp>
      <p:sp>
        <p:nvSpPr>
          <p:cNvPr id="7" name="Text 5"/>
          <p:cNvSpPr/>
          <p:nvPr/>
        </p:nvSpPr>
        <p:spPr>
          <a:xfrm>
            <a:off x="548640" y="2926080"/>
            <a:ext cx="5943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i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Kateri geni se diferencialno izražajo v vseh treh stresnih pogojih pri kvasovki S. cerevisiae?</a:t>
            </a:r>
            <a:endParaRPr lang="en-US" sz="1600" b="1"/>
          </a:p>
        </p:txBody>
      </p:sp>
      <p:sp>
        <p:nvSpPr>
          <p:cNvPr id="8" name="Text 6"/>
          <p:cNvSpPr/>
          <p:nvPr/>
        </p:nvSpPr>
        <p:spPr>
          <a:xfrm>
            <a:off x="548640" y="3931920"/>
            <a:ext cx="5943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20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Cilj:</a:t>
            </a:r>
            <a:endParaRPr lang="en-US" sz="1400"/>
          </a:p>
        </p:txBody>
      </p:sp>
      <p:sp>
        <p:nvSpPr>
          <p:cNvPr id="9" name="Text 7"/>
          <p:cNvSpPr/>
          <p:nvPr/>
        </p:nvSpPr>
        <p:spPr>
          <a:xfrm>
            <a:off x="548640" y="4251960"/>
            <a:ext cx="59436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Razkriti skupne molekularne mehanizme celičnega odziva na stres — gene, ki delujejo neodvisno od tipa stresorja.</a:t>
            </a:r>
            <a:endParaRPr lang="en-US" sz="1600"/>
          </a:p>
        </p:txBody>
      </p:sp>
      <p:sp>
        <p:nvSpPr>
          <p:cNvPr id="10" name="Shape 8"/>
          <p:cNvSpPr/>
          <p:nvPr/>
        </p:nvSpPr>
        <p:spPr>
          <a:xfrm>
            <a:off x="6949440" y="1554480"/>
            <a:ext cx="4663440" cy="457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270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SI"/>
          </a:p>
        </p:txBody>
      </p:sp>
      <p:sp>
        <p:nvSpPr>
          <p:cNvPr id="11" name="Text 9"/>
          <p:cNvSpPr/>
          <p:nvPr/>
        </p:nvSpPr>
        <p:spPr>
          <a:xfrm>
            <a:off x="7223760" y="178308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40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EKSPERIMENTALNI POGOJI</a:t>
            </a:r>
            <a:endParaRPr lang="en-US" sz="1200"/>
          </a:p>
        </p:txBody>
      </p:sp>
      <p:sp>
        <p:nvSpPr>
          <p:cNvPr id="12" name="Shape 10"/>
          <p:cNvSpPr/>
          <p:nvPr/>
        </p:nvSpPr>
        <p:spPr>
          <a:xfrm>
            <a:off x="7269480" y="2331720"/>
            <a:ext cx="594360" cy="594360"/>
          </a:xfrm>
          <a:prstGeom prst="ellipse">
            <a:avLst/>
          </a:prstGeom>
          <a:solidFill>
            <a:srgbClr val="0E615A"/>
          </a:solidFill>
          <a:ln w="1270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en-SI"/>
          </a:p>
        </p:txBody>
      </p:sp>
      <p:pic>
        <p:nvPicPr>
          <p:cNvPr id="1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88352" y="2450592"/>
            <a:ext cx="365760" cy="365760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8001000" y="2313432"/>
            <a:ext cx="3429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Kontrola (izotonično)</a:t>
            </a:r>
            <a:endParaRPr lang="en-US" sz="1400"/>
          </a:p>
        </p:txBody>
      </p:sp>
      <p:sp>
        <p:nvSpPr>
          <p:cNvPr id="15" name="Text 12"/>
          <p:cNvSpPr/>
          <p:nvPr/>
        </p:nvSpPr>
        <p:spPr>
          <a:xfrm>
            <a:off x="8001000" y="2624328"/>
            <a:ext cx="3429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standardni pogoji  •  38 celic</a:t>
            </a:r>
            <a:endParaRPr lang="en-US" sz="1100"/>
          </a:p>
        </p:txBody>
      </p:sp>
      <p:sp>
        <p:nvSpPr>
          <p:cNvPr id="16" name="Shape 13"/>
          <p:cNvSpPr/>
          <p:nvPr/>
        </p:nvSpPr>
        <p:spPr>
          <a:xfrm>
            <a:off x="7269480" y="3246120"/>
            <a:ext cx="594360" cy="594360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SI"/>
          </a:p>
        </p:txBody>
      </p:sp>
      <p:pic>
        <p:nvPicPr>
          <p:cNvPr id="1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88352" y="3364992"/>
            <a:ext cx="365760" cy="365760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8001000" y="3227832"/>
            <a:ext cx="3429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Hipotonično okolje</a:t>
            </a:r>
            <a:endParaRPr lang="en-US" sz="1400"/>
          </a:p>
        </p:txBody>
      </p:sp>
      <p:sp>
        <p:nvSpPr>
          <p:cNvPr id="19" name="Text 15"/>
          <p:cNvSpPr/>
          <p:nvPr/>
        </p:nvSpPr>
        <p:spPr>
          <a:xfrm>
            <a:off x="8001000" y="3538728"/>
            <a:ext cx="3429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celica nabrekne  •  12 celic</a:t>
            </a:r>
            <a:endParaRPr lang="en-US" sz="1100"/>
          </a:p>
        </p:txBody>
      </p:sp>
      <p:sp>
        <p:nvSpPr>
          <p:cNvPr id="20" name="Shape 16"/>
          <p:cNvSpPr/>
          <p:nvPr/>
        </p:nvSpPr>
        <p:spPr>
          <a:xfrm>
            <a:off x="7269480" y="4160520"/>
            <a:ext cx="594360" cy="594360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en-SI"/>
          </a:p>
        </p:txBody>
      </p:sp>
      <p:sp>
        <p:nvSpPr>
          <p:cNvPr id="22" name="Text 17"/>
          <p:cNvSpPr/>
          <p:nvPr/>
        </p:nvSpPr>
        <p:spPr>
          <a:xfrm>
            <a:off x="8001000" y="4142232"/>
            <a:ext cx="3429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Stradanje aminokislin</a:t>
            </a:r>
            <a:endParaRPr lang="en-US" sz="1400"/>
          </a:p>
        </p:txBody>
      </p:sp>
      <p:sp>
        <p:nvSpPr>
          <p:cNvPr id="23" name="Text 18"/>
          <p:cNvSpPr/>
          <p:nvPr/>
        </p:nvSpPr>
        <p:spPr>
          <a:xfrm>
            <a:off x="8001000" y="4453128"/>
            <a:ext cx="3429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brez gradnikov za proteine  •  20 celic</a:t>
            </a:r>
            <a:endParaRPr lang="en-US" sz="1100"/>
          </a:p>
        </p:txBody>
      </p:sp>
      <p:sp>
        <p:nvSpPr>
          <p:cNvPr id="24" name="Shape 19"/>
          <p:cNvSpPr/>
          <p:nvPr/>
        </p:nvSpPr>
        <p:spPr>
          <a:xfrm>
            <a:off x="7269480" y="5074920"/>
            <a:ext cx="594360" cy="594360"/>
          </a:xfrm>
          <a:prstGeom prst="ellipse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  <p:txBody>
          <a:bodyPr/>
          <a:lstStyle/>
          <a:p>
            <a:endParaRPr lang="en-SI"/>
          </a:p>
        </p:txBody>
      </p:sp>
      <p:pic>
        <p:nvPicPr>
          <p:cNvPr id="25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88352" y="5193792"/>
            <a:ext cx="365760" cy="365760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8001000" y="5056632"/>
            <a:ext cx="3429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Stradanje glukoze</a:t>
            </a:r>
            <a:endParaRPr lang="en-US" sz="1400"/>
          </a:p>
        </p:txBody>
      </p:sp>
      <p:sp>
        <p:nvSpPr>
          <p:cNvPr id="27" name="Text 21"/>
          <p:cNvSpPr/>
          <p:nvPr/>
        </p:nvSpPr>
        <p:spPr>
          <a:xfrm>
            <a:off x="8001000" y="5367528"/>
            <a:ext cx="3429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brez vira energije  •  47 celic</a:t>
            </a:r>
            <a:endParaRPr lang="en-US" sz="1100"/>
          </a:p>
        </p:txBody>
      </p:sp>
      <p:sp>
        <p:nvSpPr>
          <p:cNvPr id="28" name="Shape 22"/>
          <p:cNvSpPr/>
          <p:nvPr/>
        </p:nvSpPr>
        <p:spPr>
          <a:xfrm>
            <a:off x="0" y="6537960"/>
            <a:ext cx="12161520" cy="320040"/>
          </a:xfrm>
          <a:prstGeom prst="rect">
            <a:avLst/>
          </a:prstGeom>
          <a:solidFill>
            <a:srgbClr val="FEF9EE"/>
          </a:solidFill>
          <a:ln w="12700">
            <a:solidFill>
              <a:srgbClr val="FEF9EE"/>
            </a:solidFill>
            <a:prstDash val="solid"/>
          </a:ln>
        </p:spPr>
        <p:txBody>
          <a:bodyPr/>
          <a:lstStyle/>
          <a:p>
            <a:endParaRPr lang="en-SI"/>
          </a:p>
        </p:txBody>
      </p:sp>
      <p:sp>
        <p:nvSpPr>
          <p:cNvPr id="29" name="Shape 23"/>
          <p:cNvSpPr/>
          <p:nvPr/>
        </p:nvSpPr>
        <p:spPr>
          <a:xfrm>
            <a:off x="0" y="6537960"/>
            <a:ext cx="548640" cy="32004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en-SI"/>
          </a:p>
        </p:txBody>
      </p:sp>
      <p:sp>
        <p:nvSpPr>
          <p:cNvPr id="30" name="Text 24"/>
          <p:cNvSpPr/>
          <p:nvPr/>
        </p:nvSpPr>
        <p:spPr>
          <a:xfrm>
            <a:off x="0" y="653796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/>
          </a:p>
        </p:txBody>
      </p:sp>
      <p:sp>
        <p:nvSpPr>
          <p:cNvPr id="31" name="Text 25"/>
          <p:cNvSpPr/>
          <p:nvPr/>
        </p:nvSpPr>
        <p:spPr>
          <a:xfrm>
            <a:off x="640080" y="65379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Funkcijska genomika - Seminar - Aljaž Kos</a:t>
            </a:r>
            <a:r>
              <a:rPr lang="sl-SI" sz="100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sl-SI" sz="1000">
                <a:solidFill>
                  <a:schemeClr val="bg2">
                    <a:lumMod val="5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Simon Kristl</a:t>
            </a:r>
            <a:endParaRPr lang="en-US" sz="100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32" name="Text 26"/>
          <p:cNvSpPr/>
          <p:nvPr/>
        </p:nvSpPr>
        <p:spPr>
          <a:xfrm>
            <a:off x="7132320" y="653796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i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S. cerevisiae | Univerzalni stresni markerji</a:t>
            </a:r>
            <a:endParaRPr lang="en-US" sz="1000"/>
          </a:p>
        </p:txBody>
      </p:sp>
      <p:pic>
        <p:nvPicPr>
          <p:cNvPr id="33" name="Graphic 32" descr="Single gear with solid fill">
            <a:extLst>
              <a:ext uri="{FF2B5EF4-FFF2-40B4-BE49-F238E27FC236}">
                <a16:creationId xmlns:a16="http://schemas.microsoft.com/office/drawing/2014/main" id="{31DFA4AA-9499-1347-7DDA-04EE0569546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323666" y="4228857"/>
            <a:ext cx="482480" cy="45962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 &amp; VZORCI</a:t>
            </a:r>
            <a:endParaRPr lang="en-US" sz="1100"/>
          </a:p>
        </p:txBody>
      </p:sp>
      <p:sp>
        <p:nvSpPr>
          <p:cNvPr id="3" name="Text 1"/>
          <p:cNvSpPr/>
          <p:nvPr/>
        </p:nvSpPr>
        <p:spPr>
          <a:xfrm>
            <a:off x="548640" y="54864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000" b="1" err="1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Podatki</a:t>
            </a:r>
            <a:r>
              <a:rPr lang="en-US" sz="3000" b="1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: single-cell RNA-seq - GSE201386</a:t>
            </a:r>
            <a:endParaRPr lang="en-US" sz="3000">
              <a:latin typeface="Calibri"/>
              <a:ea typeface="Calibri"/>
              <a:cs typeface="Calibri"/>
            </a:endParaRPr>
          </a:p>
        </p:txBody>
      </p:sp>
      <p:sp>
        <p:nvSpPr>
          <p:cNvPr id="4" name="Shape 2"/>
          <p:cNvSpPr/>
          <p:nvPr/>
        </p:nvSpPr>
        <p:spPr>
          <a:xfrm>
            <a:off x="548640" y="1234440"/>
            <a:ext cx="548640" cy="5486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SI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2679192" cy="1554480"/>
          </a:xfrm>
          <a:prstGeom prst="rect">
            <a:avLst/>
          </a:prstGeom>
          <a:solidFill>
            <a:srgbClr val="FEF9EE"/>
          </a:solidFill>
          <a:ln w="12700">
            <a:solidFill>
              <a:srgbClr val="FEF9EE"/>
            </a:solidFill>
            <a:prstDash val="solid"/>
          </a:ln>
          <a:effectLst>
            <a:outerShdw blurRad="1270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SI"/>
          </a:p>
        </p:txBody>
      </p:sp>
      <p:sp>
        <p:nvSpPr>
          <p:cNvPr id="6" name="Shape 4"/>
          <p:cNvSpPr/>
          <p:nvPr/>
        </p:nvSpPr>
        <p:spPr>
          <a:xfrm>
            <a:off x="548640" y="1691640"/>
            <a:ext cx="2679192" cy="73152"/>
          </a:xfrm>
          <a:prstGeom prst="rect">
            <a:avLst/>
          </a:prstGeom>
          <a:solidFill>
            <a:srgbClr val="0E615A"/>
          </a:solidFill>
          <a:ln w="1270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en-SI"/>
          </a:p>
        </p:txBody>
      </p:sp>
      <p:sp>
        <p:nvSpPr>
          <p:cNvPr id="7" name="Text 5"/>
          <p:cNvSpPr/>
          <p:nvPr/>
        </p:nvSpPr>
        <p:spPr>
          <a:xfrm>
            <a:off x="685800" y="1874520"/>
            <a:ext cx="240487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117</a:t>
            </a:r>
            <a:endParaRPr lang="en-US" sz="5000"/>
          </a:p>
        </p:txBody>
      </p:sp>
      <p:sp>
        <p:nvSpPr>
          <p:cNvPr id="8" name="Text 6"/>
          <p:cNvSpPr/>
          <p:nvPr/>
        </p:nvSpPr>
        <p:spPr>
          <a:xfrm>
            <a:off x="685800" y="2880360"/>
            <a:ext cx="24048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posameznih celic</a:t>
            </a:r>
            <a:endParaRPr lang="en-US" sz="1200"/>
          </a:p>
        </p:txBody>
      </p:sp>
      <p:sp>
        <p:nvSpPr>
          <p:cNvPr id="9" name="Shape 7"/>
          <p:cNvSpPr/>
          <p:nvPr/>
        </p:nvSpPr>
        <p:spPr>
          <a:xfrm>
            <a:off x="3346704" y="1691640"/>
            <a:ext cx="2679192" cy="1554480"/>
          </a:xfrm>
          <a:prstGeom prst="rect">
            <a:avLst/>
          </a:prstGeom>
          <a:solidFill>
            <a:srgbClr val="FEF9EE"/>
          </a:solidFill>
          <a:ln w="12700">
            <a:solidFill>
              <a:srgbClr val="FEF9EE"/>
            </a:solidFill>
            <a:prstDash val="solid"/>
          </a:ln>
          <a:effectLst>
            <a:outerShdw blurRad="1270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SI"/>
          </a:p>
        </p:txBody>
      </p:sp>
      <p:sp>
        <p:nvSpPr>
          <p:cNvPr id="10" name="Shape 8"/>
          <p:cNvSpPr/>
          <p:nvPr/>
        </p:nvSpPr>
        <p:spPr>
          <a:xfrm>
            <a:off x="3346704" y="1691640"/>
            <a:ext cx="2679192" cy="73152"/>
          </a:xfrm>
          <a:prstGeom prst="rect">
            <a:avLst/>
          </a:prstGeom>
          <a:solidFill>
            <a:srgbClr val="0E615A"/>
          </a:solidFill>
          <a:ln w="1270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en-SI"/>
          </a:p>
        </p:txBody>
      </p:sp>
      <p:sp>
        <p:nvSpPr>
          <p:cNvPr id="11" name="Text 9"/>
          <p:cNvSpPr/>
          <p:nvPr/>
        </p:nvSpPr>
        <p:spPr>
          <a:xfrm>
            <a:off x="3483864" y="1874520"/>
            <a:ext cx="240487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~6000</a:t>
            </a:r>
            <a:endParaRPr lang="en-US" sz="4000"/>
          </a:p>
        </p:txBody>
      </p:sp>
      <p:sp>
        <p:nvSpPr>
          <p:cNvPr id="12" name="Text 10"/>
          <p:cNvSpPr/>
          <p:nvPr/>
        </p:nvSpPr>
        <p:spPr>
          <a:xfrm>
            <a:off x="3483864" y="2880360"/>
            <a:ext cx="24048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izmerjenih genov</a:t>
            </a:r>
            <a:endParaRPr lang="en-US" sz="1200"/>
          </a:p>
        </p:txBody>
      </p:sp>
      <p:sp>
        <p:nvSpPr>
          <p:cNvPr id="13" name="Shape 11"/>
          <p:cNvSpPr/>
          <p:nvPr/>
        </p:nvSpPr>
        <p:spPr>
          <a:xfrm>
            <a:off x="6144768" y="1691640"/>
            <a:ext cx="2679192" cy="1554480"/>
          </a:xfrm>
          <a:prstGeom prst="rect">
            <a:avLst/>
          </a:prstGeom>
          <a:solidFill>
            <a:srgbClr val="FEF9EE"/>
          </a:solidFill>
          <a:ln w="12700">
            <a:solidFill>
              <a:srgbClr val="FEF9EE"/>
            </a:solidFill>
            <a:prstDash val="solid"/>
          </a:ln>
          <a:effectLst>
            <a:outerShdw blurRad="1270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SI"/>
          </a:p>
        </p:txBody>
      </p:sp>
      <p:sp>
        <p:nvSpPr>
          <p:cNvPr id="14" name="Shape 12"/>
          <p:cNvSpPr/>
          <p:nvPr/>
        </p:nvSpPr>
        <p:spPr>
          <a:xfrm>
            <a:off x="6144768" y="1691640"/>
            <a:ext cx="2679192" cy="73152"/>
          </a:xfrm>
          <a:prstGeom prst="rect">
            <a:avLst/>
          </a:prstGeom>
          <a:solidFill>
            <a:srgbClr val="0E615A"/>
          </a:solidFill>
          <a:ln w="1270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en-SI"/>
          </a:p>
        </p:txBody>
      </p:sp>
      <p:sp>
        <p:nvSpPr>
          <p:cNvPr id="15" name="Text 13"/>
          <p:cNvSpPr/>
          <p:nvPr/>
        </p:nvSpPr>
        <p:spPr>
          <a:xfrm>
            <a:off x="6281928" y="1874520"/>
            <a:ext cx="240487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4000"/>
          </a:p>
        </p:txBody>
      </p:sp>
      <p:sp>
        <p:nvSpPr>
          <p:cNvPr id="16" name="Text 14"/>
          <p:cNvSpPr/>
          <p:nvPr/>
        </p:nvSpPr>
        <p:spPr>
          <a:xfrm>
            <a:off x="6281928" y="2880360"/>
            <a:ext cx="24048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eksperimentalni pogoji</a:t>
            </a:r>
            <a:endParaRPr lang="en-US" sz="1200"/>
          </a:p>
        </p:txBody>
      </p:sp>
      <p:sp>
        <p:nvSpPr>
          <p:cNvPr id="21" name="Text 19"/>
          <p:cNvSpPr/>
          <p:nvPr/>
        </p:nvSpPr>
        <p:spPr>
          <a:xfrm>
            <a:off x="548640" y="352044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20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Število celic na pogoj</a:t>
            </a:r>
            <a:endParaRPr lang="en-US" sz="1400"/>
          </a:p>
        </p:txBody>
      </p:sp>
      <p:graphicFrame>
        <p:nvGraphicFramePr>
          <p:cNvPr id="2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54185389"/>
              </p:ext>
            </p:extLst>
          </p:nvPr>
        </p:nvGraphicFramePr>
        <p:xfrm>
          <a:off x="548640" y="3931920"/>
          <a:ext cx="6400800" cy="1828800"/>
        </p:xfrm>
        <a:graphic>
          <a:graphicData uri="http://schemas.openxmlformats.org/drawingml/2006/table">
            <a:tbl>
              <a:tblPr/>
              <a:tblGrid>
                <a:gridCol w="2926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945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err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Pogoj</a:t>
                      </a:r>
                      <a:endParaRPr lang="en-US" sz="1200" err="1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615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err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Serije</a:t>
                      </a:r>
                      <a:endParaRPr lang="en-US" sz="1200" err="1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615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err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Število</a:t>
                      </a:r>
                      <a:r>
                        <a:rPr lang="en-US" sz="120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 </a:t>
                      </a:r>
                      <a:r>
                        <a:rPr lang="en-US" sz="1200" b="1" err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celic</a:t>
                      </a:r>
                      <a:endParaRPr lang="en-US" sz="1200" err="1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615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err="1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</a:rPr>
                        <a:t>Kontrola</a:t>
                      </a:r>
                      <a:r>
                        <a:rPr lang="en-US" sz="1200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</a:rPr>
                        <a:t> (</a:t>
                      </a:r>
                      <a:r>
                        <a:rPr lang="en-US" sz="1200" err="1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</a:rPr>
                        <a:t>izotonično</a:t>
                      </a:r>
                      <a:r>
                        <a:rPr lang="en-US" sz="1200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</a:rPr>
                        <a:t>)</a:t>
                      </a:r>
                      <a:endParaRPr lang="en-US" sz="12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A, E, G, Y700</a:t>
                      </a:r>
                      <a:endParaRPr lang="en-US" sz="12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38</a:t>
                      </a:r>
                      <a:endParaRPr lang="en-US" sz="12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err="1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</a:rPr>
                        <a:t>Hipotonično</a:t>
                      </a:r>
                      <a:endParaRPr lang="en-US" sz="1200" err="1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C, F</a:t>
                      </a:r>
                      <a:endParaRPr lang="en-US" sz="12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</a:t>
                      </a:r>
                      <a:endParaRPr lang="en-US" sz="12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err="1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</a:rPr>
                        <a:t>Stradanje</a:t>
                      </a:r>
                      <a:r>
                        <a:rPr lang="en-US" sz="1200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</a:rPr>
                        <a:t> </a:t>
                      </a:r>
                      <a:r>
                        <a:rPr lang="en-US" sz="1200" err="1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</a:rPr>
                        <a:t>aminokislin</a:t>
                      </a:r>
                      <a:endParaRPr lang="en-US" sz="1200" err="1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</a:t>
                      </a:r>
                      <a:endParaRPr lang="en-US" sz="12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</a:t>
                      </a:r>
                      <a:endParaRPr lang="en-US" sz="12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err="1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</a:rPr>
                        <a:t>Stradanje</a:t>
                      </a:r>
                      <a:r>
                        <a:rPr lang="en-US" sz="1200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</a:rPr>
                        <a:t> </a:t>
                      </a:r>
                      <a:r>
                        <a:rPr lang="en-US" sz="1200" err="1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</a:rPr>
                        <a:t>glukoze</a:t>
                      </a:r>
                      <a:endParaRPr lang="en-US" sz="1200" err="1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Y200, Y500</a:t>
                      </a:r>
                      <a:endParaRPr lang="en-US" sz="12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47</a:t>
                      </a:r>
                      <a:endParaRPr lang="en-US" sz="12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3" name="Shape 20"/>
          <p:cNvSpPr/>
          <p:nvPr/>
        </p:nvSpPr>
        <p:spPr>
          <a:xfrm>
            <a:off x="7269480" y="3925250"/>
            <a:ext cx="4283869" cy="2213612"/>
          </a:xfrm>
          <a:prstGeom prst="rect">
            <a:avLst/>
          </a:prstGeom>
          <a:solidFill>
            <a:srgbClr val="0A423E"/>
          </a:solidFill>
          <a:ln w="12700">
            <a:noFill/>
            <a:prstDash val="solid"/>
          </a:ln>
          <a:effectLst>
            <a:outerShdw blurRad="1270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SI"/>
          </a:p>
        </p:txBody>
      </p:sp>
      <p:sp>
        <p:nvSpPr>
          <p:cNvPr id="26" name="Text 22"/>
          <p:cNvSpPr/>
          <p:nvPr/>
        </p:nvSpPr>
        <p:spPr>
          <a:xfrm>
            <a:off x="7543800" y="4081462"/>
            <a:ext cx="3794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i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Saccharomyces cerevisiae</a:t>
            </a:r>
            <a:endParaRPr lang="en-US" sz="1800"/>
          </a:p>
          <a:p>
            <a:pPr marL="0" indent="0">
              <a:buNone/>
            </a:pPr>
            <a:r>
              <a:rPr lang="en-US" sz="120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Pekovski kvas  •  sev S288C</a:t>
            </a:r>
            <a:endParaRPr lang="en-US" sz="1800"/>
          </a:p>
        </p:txBody>
      </p:sp>
      <p:sp>
        <p:nvSpPr>
          <p:cNvPr id="27" name="Shape 23"/>
          <p:cNvSpPr/>
          <p:nvPr/>
        </p:nvSpPr>
        <p:spPr>
          <a:xfrm>
            <a:off x="7543800" y="4950143"/>
            <a:ext cx="3794760" cy="18288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en-SI"/>
          </a:p>
        </p:txBody>
      </p:sp>
      <p:sp>
        <p:nvSpPr>
          <p:cNvPr id="28" name="Text 24"/>
          <p:cNvSpPr/>
          <p:nvPr/>
        </p:nvSpPr>
        <p:spPr>
          <a:xfrm>
            <a:off x="7543800" y="5087302"/>
            <a:ext cx="3794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kern="0" spc="30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METODA</a:t>
            </a:r>
            <a:endParaRPr lang="en-US" sz="1000"/>
          </a:p>
          <a:p>
            <a:pPr marL="0" indent="0">
              <a:spcAft>
                <a:spcPts val="800"/>
              </a:spcAft>
              <a:buNone/>
            </a:pPr>
            <a:r>
              <a:rPr lang="en-US" sz="120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Single-cell RNA-seq  •  1 celica = 1 vzorec</a:t>
            </a:r>
            <a:endParaRPr lang="en-US" sz="1000"/>
          </a:p>
          <a:p>
            <a:pPr marL="0" indent="0">
              <a:buNone/>
            </a:pPr>
            <a:r>
              <a:rPr lang="en-US" sz="1000" b="1" kern="0" spc="30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VHODNA MATRIKA</a:t>
            </a:r>
            <a:endParaRPr lang="en-US" sz="1000"/>
          </a:p>
          <a:p>
            <a:pPr marL="0" indent="0">
              <a:buNone/>
            </a:pPr>
            <a:r>
              <a:rPr lang="en-US" sz="120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~6000 genov × 117 celic</a:t>
            </a:r>
            <a:endParaRPr lang="en-US" sz="1000"/>
          </a:p>
        </p:txBody>
      </p:sp>
      <p:sp>
        <p:nvSpPr>
          <p:cNvPr id="29" name="Shape 25"/>
          <p:cNvSpPr/>
          <p:nvPr/>
        </p:nvSpPr>
        <p:spPr>
          <a:xfrm>
            <a:off x="0" y="6537960"/>
            <a:ext cx="12161520" cy="320040"/>
          </a:xfrm>
          <a:prstGeom prst="rect">
            <a:avLst/>
          </a:prstGeom>
          <a:solidFill>
            <a:srgbClr val="FEF9EE"/>
          </a:solidFill>
          <a:ln w="12700">
            <a:solidFill>
              <a:srgbClr val="FEF9EE"/>
            </a:solidFill>
            <a:prstDash val="solid"/>
          </a:ln>
        </p:spPr>
        <p:txBody>
          <a:bodyPr/>
          <a:lstStyle/>
          <a:p>
            <a:endParaRPr lang="en-SI"/>
          </a:p>
        </p:txBody>
      </p:sp>
      <p:sp>
        <p:nvSpPr>
          <p:cNvPr id="30" name="Shape 26"/>
          <p:cNvSpPr/>
          <p:nvPr/>
        </p:nvSpPr>
        <p:spPr>
          <a:xfrm>
            <a:off x="0" y="6537960"/>
            <a:ext cx="548640" cy="32004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en-SI"/>
          </a:p>
        </p:txBody>
      </p:sp>
      <p:sp>
        <p:nvSpPr>
          <p:cNvPr id="31" name="Text 27"/>
          <p:cNvSpPr/>
          <p:nvPr/>
        </p:nvSpPr>
        <p:spPr>
          <a:xfrm>
            <a:off x="0" y="653796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/>
          </a:p>
        </p:txBody>
      </p:sp>
      <p:sp>
        <p:nvSpPr>
          <p:cNvPr id="32" name="Text 28"/>
          <p:cNvSpPr/>
          <p:nvPr/>
        </p:nvSpPr>
        <p:spPr>
          <a:xfrm>
            <a:off x="640080" y="65379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Funkcijska genomika - Seminar - Aljaž Kos</a:t>
            </a:r>
            <a:r>
              <a:rPr lang="sl-SI" sz="1000">
                <a:solidFill>
                  <a:schemeClr val="bg2">
                    <a:lumMod val="5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, Simon Kristl</a:t>
            </a:r>
            <a:endParaRPr lang="en-US" sz="100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33" name="Text 29"/>
          <p:cNvSpPr/>
          <p:nvPr/>
        </p:nvSpPr>
        <p:spPr>
          <a:xfrm>
            <a:off x="7132320" y="653796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i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S. cerevisiae | Univerzalni stresni markerji</a:t>
            </a:r>
            <a:endParaRPr lang="en-US" sz="1000"/>
          </a:p>
        </p:txBody>
      </p:sp>
      <p:pic>
        <p:nvPicPr>
          <p:cNvPr id="18" name="Image 0" descr="preencoded.png">
            <a:extLst>
              <a:ext uri="{FF2B5EF4-FFF2-40B4-BE49-F238E27FC236}">
                <a16:creationId xmlns:a16="http://schemas.microsoft.com/office/drawing/2014/main" id="{E59659AB-EE1A-42FB-7F89-A21FEC7616AA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25000"/>
          </a:blip>
          <a:stretch>
            <a:fillRect/>
          </a:stretch>
        </p:blipFill>
        <p:spPr>
          <a:xfrm flipH="1">
            <a:off x="11059479" y="4079079"/>
            <a:ext cx="273842" cy="273847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EF9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METODE | DESEQ2</a:t>
            </a:r>
            <a:endParaRPr lang="en-US" sz="1100"/>
          </a:p>
        </p:txBody>
      </p:sp>
      <p:sp>
        <p:nvSpPr>
          <p:cNvPr id="3" name="Text 1"/>
          <p:cNvSpPr/>
          <p:nvPr/>
        </p:nvSpPr>
        <p:spPr>
          <a:xfrm>
            <a:off x="548640" y="54864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Analiza diferencialne ekspresije</a:t>
            </a:r>
            <a:endParaRPr lang="en-US" sz="3000"/>
          </a:p>
        </p:txBody>
      </p:sp>
      <p:sp>
        <p:nvSpPr>
          <p:cNvPr id="4" name="Shape 2"/>
          <p:cNvSpPr/>
          <p:nvPr/>
        </p:nvSpPr>
        <p:spPr>
          <a:xfrm>
            <a:off x="548640" y="1234440"/>
            <a:ext cx="548640" cy="5486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SI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2670048" cy="2377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270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SI"/>
          </a:p>
        </p:txBody>
      </p:sp>
      <p:sp>
        <p:nvSpPr>
          <p:cNvPr id="6" name="Shape 4"/>
          <p:cNvSpPr/>
          <p:nvPr/>
        </p:nvSpPr>
        <p:spPr>
          <a:xfrm>
            <a:off x="548640" y="1691640"/>
            <a:ext cx="2670048" cy="91440"/>
          </a:xfrm>
          <a:prstGeom prst="rect">
            <a:avLst/>
          </a:prstGeom>
          <a:solidFill>
            <a:srgbClr val="0F746C"/>
          </a:solidFill>
          <a:ln w="1270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en-SI"/>
          </a:p>
        </p:txBody>
      </p:sp>
      <p:sp>
        <p:nvSpPr>
          <p:cNvPr id="7" name="Shape 5"/>
          <p:cNvSpPr/>
          <p:nvPr/>
        </p:nvSpPr>
        <p:spPr>
          <a:xfrm>
            <a:off x="1517904" y="2011680"/>
            <a:ext cx="731520" cy="731520"/>
          </a:xfrm>
          <a:prstGeom prst="ellipse">
            <a:avLst/>
          </a:prstGeom>
          <a:solidFill>
            <a:srgbClr val="FEF9EE"/>
          </a:solidFill>
          <a:ln w="1905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en-SI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55064" y="2148840"/>
            <a:ext cx="457200" cy="45720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731520" y="2834640"/>
            <a:ext cx="23042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Matrika</a:t>
            </a:r>
            <a:endParaRPr lang="en-US" sz="1500"/>
          </a:p>
        </p:txBody>
      </p:sp>
      <p:sp>
        <p:nvSpPr>
          <p:cNvPr id="10" name="Text 7"/>
          <p:cNvSpPr/>
          <p:nvPr/>
        </p:nvSpPr>
        <p:spPr>
          <a:xfrm>
            <a:off x="731520" y="3200400"/>
            <a:ext cx="230428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Združitev 117 datotek v ekspresijsko matriko 6000 × 117</a:t>
            </a:r>
            <a:endParaRPr lang="en-US" sz="1200"/>
          </a:p>
        </p:txBody>
      </p:sp>
      <p:sp>
        <p:nvSpPr>
          <p:cNvPr id="11" name="Shape 8"/>
          <p:cNvSpPr/>
          <p:nvPr/>
        </p:nvSpPr>
        <p:spPr>
          <a:xfrm>
            <a:off x="3383280" y="1691640"/>
            <a:ext cx="2670048" cy="2377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270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SI"/>
          </a:p>
        </p:txBody>
      </p:sp>
      <p:sp>
        <p:nvSpPr>
          <p:cNvPr id="12" name="Shape 9"/>
          <p:cNvSpPr/>
          <p:nvPr/>
        </p:nvSpPr>
        <p:spPr>
          <a:xfrm>
            <a:off x="3383280" y="1691640"/>
            <a:ext cx="2670048" cy="9144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en-SI"/>
          </a:p>
        </p:txBody>
      </p:sp>
      <p:sp>
        <p:nvSpPr>
          <p:cNvPr id="13" name="Shape 10"/>
          <p:cNvSpPr/>
          <p:nvPr/>
        </p:nvSpPr>
        <p:spPr>
          <a:xfrm>
            <a:off x="4352544" y="2011680"/>
            <a:ext cx="731520" cy="731520"/>
          </a:xfrm>
          <a:prstGeom prst="ellipse">
            <a:avLst/>
          </a:prstGeom>
          <a:solidFill>
            <a:srgbClr val="FEF9EE"/>
          </a:solidFill>
          <a:ln w="1905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en-SI"/>
          </a:p>
        </p:txBody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89704" y="2148840"/>
            <a:ext cx="457200" cy="45720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3566160" y="2834640"/>
            <a:ext cx="23042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DESeq2</a:t>
            </a:r>
            <a:endParaRPr lang="en-US" sz="1500"/>
          </a:p>
        </p:txBody>
      </p:sp>
      <p:sp>
        <p:nvSpPr>
          <p:cNvPr id="16" name="Text 12"/>
          <p:cNvSpPr/>
          <p:nvPr/>
        </p:nvSpPr>
        <p:spPr>
          <a:xfrm>
            <a:off x="3566160" y="3200400"/>
            <a:ext cx="230428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Statistični test razlike v ekspresiji glede na kontrolo</a:t>
            </a:r>
            <a:endParaRPr lang="en-US" sz="1200"/>
          </a:p>
        </p:txBody>
      </p:sp>
      <p:sp>
        <p:nvSpPr>
          <p:cNvPr id="17" name="Shape 13"/>
          <p:cNvSpPr/>
          <p:nvPr/>
        </p:nvSpPr>
        <p:spPr>
          <a:xfrm>
            <a:off x="6217920" y="1691640"/>
            <a:ext cx="2670048" cy="2377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270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SI"/>
          </a:p>
        </p:txBody>
      </p:sp>
      <p:sp>
        <p:nvSpPr>
          <p:cNvPr id="18" name="Shape 14"/>
          <p:cNvSpPr/>
          <p:nvPr/>
        </p:nvSpPr>
        <p:spPr>
          <a:xfrm>
            <a:off x="6217920" y="1691640"/>
            <a:ext cx="2670048" cy="9144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en-SI"/>
          </a:p>
        </p:txBody>
      </p:sp>
      <p:sp>
        <p:nvSpPr>
          <p:cNvPr id="19" name="Shape 15"/>
          <p:cNvSpPr/>
          <p:nvPr/>
        </p:nvSpPr>
        <p:spPr>
          <a:xfrm>
            <a:off x="7187184" y="2011680"/>
            <a:ext cx="731520" cy="731520"/>
          </a:xfrm>
          <a:prstGeom prst="ellipse">
            <a:avLst/>
          </a:prstGeom>
          <a:solidFill>
            <a:srgbClr val="FEF9EE"/>
          </a:solidFill>
          <a:ln w="1905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en-SI"/>
          </a:p>
        </p:txBody>
      </p:sp>
      <p:pic>
        <p:nvPicPr>
          <p:cNvPr id="2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24344" y="2148840"/>
            <a:ext cx="457200" cy="457200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6400800" y="2834640"/>
            <a:ext cx="23042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Filtriranje</a:t>
            </a:r>
            <a:endParaRPr lang="en-US" sz="1500"/>
          </a:p>
        </p:txBody>
      </p:sp>
      <p:sp>
        <p:nvSpPr>
          <p:cNvPr id="22" name="Text 17"/>
          <p:cNvSpPr/>
          <p:nvPr/>
        </p:nvSpPr>
        <p:spPr>
          <a:xfrm>
            <a:off x="6400800" y="3200400"/>
            <a:ext cx="230428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padj &lt; 0.05  in  |log2FC| &gt; 1 (vsaj 2× sprememba)</a:t>
            </a:r>
            <a:endParaRPr lang="en-US" sz="1200"/>
          </a:p>
        </p:txBody>
      </p:sp>
      <p:sp>
        <p:nvSpPr>
          <p:cNvPr id="23" name="Shape 18"/>
          <p:cNvSpPr/>
          <p:nvPr/>
        </p:nvSpPr>
        <p:spPr>
          <a:xfrm>
            <a:off x="9052560" y="1691640"/>
            <a:ext cx="2670048" cy="2377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270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SI"/>
          </a:p>
        </p:txBody>
      </p:sp>
      <p:sp>
        <p:nvSpPr>
          <p:cNvPr id="24" name="Shape 19"/>
          <p:cNvSpPr/>
          <p:nvPr/>
        </p:nvSpPr>
        <p:spPr>
          <a:xfrm>
            <a:off x="9052560" y="1691640"/>
            <a:ext cx="2670048" cy="9144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en-SI"/>
          </a:p>
        </p:txBody>
      </p:sp>
      <p:sp>
        <p:nvSpPr>
          <p:cNvPr id="25" name="Shape 20"/>
          <p:cNvSpPr/>
          <p:nvPr/>
        </p:nvSpPr>
        <p:spPr>
          <a:xfrm>
            <a:off x="10021824" y="2011680"/>
            <a:ext cx="731520" cy="731520"/>
          </a:xfrm>
          <a:prstGeom prst="ellipse">
            <a:avLst/>
          </a:prstGeom>
          <a:solidFill>
            <a:srgbClr val="FEF9EE"/>
          </a:solidFill>
          <a:ln w="1905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en-SI"/>
          </a:p>
        </p:txBody>
      </p:sp>
      <p:pic>
        <p:nvPicPr>
          <p:cNvPr id="2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158984" y="2148840"/>
            <a:ext cx="457200" cy="457200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9235440" y="2834640"/>
            <a:ext cx="23042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Presek</a:t>
            </a:r>
            <a:endParaRPr lang="en-US" sz="1500"/>
          </a:p>
        </p:txBody>
      </p:sp>
      <p:sp>
        <p:nvSpPr>
          <p:cNvPr id="28" name="Text 22"/>
          <p:cNvSpPr/>
          <p:nvPr/>
        </p:nvSpPr>
        <p:spPr>
          <a:xfrm>
            <a:off x="9235440" y="3200400"/>
            <a:ext cx="230428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Geni signifikantni v vseh treh stresnih pogojih hkrati</a:t>
            </a:r>
            <a:endParaRPr lang="en-US" sz="1200"/>
          </a:p>
        </p:txBody>
      </p:sp>
      <p:sp>
        <p:nvSpPr>
          <p:cNvPr id="29" name="Text 23"/>
          <p:cNvSpPr/>
          <p:nvPr/>
        </p:nvSpPr>
        <p:spPr>
          <a:xfrm>
            <a:off x="3255264" y="2651760"/>
            <a:ext cx="1097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>
                <a:solidFill>
                  <a:srgbClr val="0F766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&gt;</a:t>
            </a:r>
            <a:endParaRPr lang="en-US" sz="2000"/>
          </a:p>
        </p:txBody>
      </p:sp>
      <p:sp>
        <p:nvSpPr>
          <p:cNvPr id="30" name="Text 24"/>
          <p:cNvSpPr/>
          <p:nvPr/>
        </p:nvSpPr>
        <p:spPr>
          <a:xfrm>
            <a:off x="6089904" y="2651760"/>
            <a:ext cx="1097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>
                <a:solidFill>
                  <a:srgbClr val="0F766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&gt;</a:t>
            </a:r>
            <a:endParaRPr lang="en-US" sz="2000"/>
          </a:p>
        </p:txBody>
      </p:sp>
      <p:sp>
        <p:nvSpPr>
          <p:cNvPr id="31" name="Text 25"/>
          <p:cNvSpPr/>
          <p:nvPr/>
        </p:nvSpPr>
        <p:spPr>
          <a:xfrm>
            <a:off x="8924544" y="2651760"/>
            <a:ext cx="1097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>
                <a:solidFill>
                  <a:srgbClr val="0F766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&gt;</a:t>
            </a:r>
            <a:endParaRPr lang="en-US" sz="2000"/>
          </a:p>
        </p:txBody>
      </p:sp>
      <p:sp>
        <p:nvSpPr>
          <p:cNvPr id="32" name="Shape 26"/>
          <p:cNvSpPr/>
          <p:nvPr/>
        </p:nvSpPr>
        <p:spPr>
          <a:xfrm>
            <a:off x="548640" y="4343400"/>
            <a:ext cx="11064240" cy="1691640"/>
          </a:xfrm>
          <a:prstGeom prst="rect">
            <a:avLst/>
          </a:prstGeom>
          <a:solidFill>
            <a:srgbClr val="0A423E"/>
          </a:solidFill>
          <a:ln w="12700">
            <a:noFill/>
            <a:prstDash val="solid"/>
          </a:ln>
        </p:spPr>
        <p:txBody>
          <a:bodyPr/>
          <a:lstStyle/>
          <a:p>
            <a:endParaRPr lang="en-SI"/>
          </a:p>
        </p:txBody>
      </p:sp>
      <p:sp>
        <p:nvSpPr>
          <p:cNvPr id="33" name="Text 27"/>
          <p:cNvSpPr/>
          <p:nvPr/>
        </p:nvSpPr>
        <p:spPr>
          <a:xfrm>
            <a:off x="822960" y="45262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REZULTATI ZA VSAK GEN:</a:t>
            </a:r>
            <a:endParaRPr lang="en-US" sz="1100"/>
          </a:p>
        </p:txBody>
      </p:sp>
      <p:sp>
        <p:nvSpPr>
          <p:cNvPr id="34" name="Text 28"/>
          <p:cNvSpPr/>
          <p:nvPr/>
        </p:nvSpPr>
        <p:spPr>
          <a:xfrm>
            <a:off x="822960" y="489204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log2FC</a:t>
            </a:r>
            <a:endParaRPr lang="en-US" sz="2200"/>
          </a:p>
        </p:txBody>
      </p:sp>
      <p:sp>
        <p:nvSpPr>
          <p:cNvPr id="35" name="Text 29"/>
          <p:cNvSpPr/>
          <p:nvPr/>
        </p:nvSpPr>
        <p:spPr>
          <a:xfrm>
            <a:off x="822960" y="5303520"/>
            <a:ext cx="5029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err="1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Velikost</a:t>
            </a:r>
            <a:r>
              <a:rPr lang="en-US" sz="1200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200" err="1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spremembe</a:t>
            </a:r>
            <a:r>
              <a:rPr lang="en-US" sz="1200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200" err="1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ekspresije</a:t>
            </a:r>
            <a:r>
              <a:rPr lang="en-US" sz="1200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 (log2FC = 1 → 2×, log2FC = -1 → 0,5×)</a:t>
            </a:r>
          </a:p>
        </p:txBody>
      </p:sp>
      <p:sp>
        <p:nvSpPr>
          <p:cNvPr id="36" name="Shape 30"/>
          <p:cNvSpPr/>
          <p:nvPr/>
        </p:nvSpPr>
        <p:spPr>
          <a:xfrm>
            <a:off x="6126480" y="4709160"/>
            <a:ext cx="18288" cy="96012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en-SI"/>
          </a:p>
        </p:txBody>
      </p:sp>
      <p:sp>
        <p:nvSpPr>
          <p:cNvPr id="37" name="Text 31"/>
          <p:cNvSpPr/>
          <p:nvPr/>
        </p:nvSpPr>
        <p:spPr>
          <a:xfrm>
            <a:off x="6400800" y="489204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padj</a:t>
            </a:r>
            <a:endParaRPr lang="en-US" sz="2200"/>
          </a:p>
        </p:txBody>
      </p:sp>
      <p:sp>
        <p:nvSpPr>
          <p:cNvPr id="38" name="Text 32"/>
          <p:cNvSpPr/>
          <p:nvPr/>
        </p:nvSpPr>
        <p:spPr>
          <a:xfrm>
            <a:off x="6400800" y="5303520"/>
            <a:ext cx="5212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err="1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Statistična</a:t>
            </a:r>
            <a:r>
              <a:rPr lang="en-US" sz="1200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200" err="1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značilnost</a:t>
            </a:r>
            <a:r>
              <a:rPr lang="en-US" sz="1200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 po BH </a:t>
            </a:r>
            <a:r>
              <a:rPr lang="en-US" sz="1200" err="1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korekciji</a:t>
            </a:r>
            <a:r>
              <a:rPr lang="en-US" sz="1200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 (</a:t>
            </a:r>
            <a:r>
              <a:rPr lang="en-US" sz="1200" err="1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padj</a:t>
            </a:r>
            <a:r>
              <a:rPr lang="en-US" sz="1200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 &lt; 0,05 = </a:t>
            </a:r>
            <a:r>
              <a:rPr lang="en-US" sz="1200" err="1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signifikantno</a:t>
            </a:r>
            <a:r>
              <a:rPr lang="en-US" sz="1200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)</a:t>
            </a:r>
          </a:p>
        </p:txBody>
      </p:sp>
      <p:sp>
        <p:nvSpPr>
          <p:cNvPr id="39" name="Shape 33"/>
          <p:cNvSpPr/>
          <p:nvPr/>
        </p:nvSpPr>
        <p:spPr>
          <a:xfrm>
            <a:off x="0" y="6537960"/>
            <a:ext cx="12161520" cy="320040"/>
          </a:xfrm>
          <a:prstGeom prst="rect">
            <a:avLst/>
          </a:prstGeom>
          <a:solidFill>
            <a:srgbClr val="FEF9EE"/>
          </a:solidFill>
          <a:ln w="12700">
            <a:solidFill>
              <a:srgbClr val="FEF9EE"/>
            </a:solidFill>
            <a:prstDash val="solid"/>
          </a:ln>
        </p:spPr>
        <p:txBody>
          <a:bodyPr/>
          <a:lstStyle/>
          <a:p>
            <a:endParaRPr lang="en-SI"/>
          </a:p>
        </p:txBody>
      </p:sp>
      <p:sp>
        <p:nvSpPr>
          <p:cNvPr id="40" name="Shape 34"/>
          <p:cNvSpPr/>
          <p:nvPr/>
        </p:nvSpPr>
        <p:spPr>
          <a:xfrm>
            <a:off x="0" y="6537960"/>
            <a:ext cx="548640" cy="32004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en-SI"/>
          </a:p>
        </p:txBody>
      </p:sp>
      <p:sp>
        <p:nvSpPr>
          <p:cNvPr id="41" name="Text 35"/>
          <p:cNvSpPr/>
          <p:nvPr/>
        </p:nvSpPr>
        <p:spPr>
          <a:xfrm>
            <a:off x="0" y="653796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/>
          </a:p>
        </p:txBody>
      </p:sp>
      <p:sp>
        <p:nvSpPr>
          <p:cNvPr id="42" name="Text 36"/>
          <p:cNvSpPr/>
          <p:nvPr/>
        </p:nvSpPr>
        <p:spPr>
          <a:xfrm>
            <a:off x="640080" y="65379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Funkcijska genomika - Seminar - Aljaž Kos</a:t>
            </a:r>
            <a:r>
              <a:rPr lang="sl-SI" sz="1000">
                <a:solidFill>
                  <a:schemeClr val="bg2">
                    <a:lumMod val="5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, Simon Kristl</a:t>
            </a:r>
            <a:endParaRPr lang="en-US" sz="100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43" name="Text 37"/>
          <p:cNvSpPr/>
          <p:nvPr/>
        </p:nvSpPr>
        <p:spPr>
          <a:xfrm>
            <a:off x="7132320" y="653796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i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S. cerevisiae | Univerzalni stresni markerji</a:t>
            </a:r>
            <a:endParaRPr lang="en-US" sz="10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REZULTATI | DESEQ2</a:t>
            </a:r>
            <a:endParaRPr lang="en-US" sz="1100"/>
          </a:p>
        </p:txBody>
      </p:sp>
      <p:sp>
        <p:nvSpPr>
          <p:cNvPr id="3" name="Text 1"/>
          <p:cNvSpPr/>
          <p:nvPr/>
        </p:nvSpPr>
        <p:spPr>
          <a:xfrm>
            <a:off x="548640" y="54864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Diferencialno izraženi geni (DEG) po pogojih</a:t>
            </a:r>
            <a:endParaRPr lang="en-US" sz="3000"/>
          </a:p>
        </p:txBody>
      </p:sp>
      <p:sp>
        <p:nvSpPr>
          <p:cNvPr id="4" name="Shape 2"/>
          <p:cNvSpPr/>
          <p:nvPr/>
        </p:nvSpPr>
        <p:spPr>
          <a:xfrm>
            <a:off x="548640" y="1234440"/>
            <a:ext cx="548640" cy="5486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SI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5486400" cy="822960"/>
          </a:xfrm>
          <a:prstGeom prst="rect">
            <a:avLst/>
          </a:prstGeom>
          <a:solidFill>
            <a:srgbClr val="FEF9EE"/>
          </a:solidFill>
          <a:ln w="12700">
            <a:solidFill>
              <a:srgbClr val="FEF9EE"/>
            </a:solidFill>
            <a:prstDash val="solid"/>
          </a:ln>
        </p:spPr>
        <p:txBody>
          <a:bodyPr/>
          <a:lstStyle/>
          <a:p>
            <a:endParaRPr lang="en-SI"/>
          </a:p>
        </p:txBody>
      </p:sp>
      <p:sp>
        <p:nvSpPr>
          <p:cNvPr id="6" name="Shape 4"/>
          <p:cNvSpPr/>
          <p:nvPr/>
        </p:nvSpPr>
        <p:spPr>
          <a:xfrm>
            <a:off x="548640" y="1691640"/>
            <a:ext cx="109728" cy="82296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SI"/>
          </a:p>
        </p:txBody>
      </p:sp>
      <p:sp>
        <p:nvSpPr>
          <p:cNvPr id="7" name="Text 5"/>
          <p:cNvSpPr/>
          <p:nvPr/>
        </p:nvSpPr>
        <p:spPr>
          <a:xfrm>
            <a:off x="777240" y="1737360"/>
            <a:ext cx="1554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383</a:t>
            </a:r>
            <a:endParaRPr lang="en-US" sz="3000"/>
          </a:p>
        </p:txBody>
      </p:sp>
      <p:sp>
        <p:nvSpPr>
          <p:cNvPr id="8" name="Text 6"/>
          <p:cNvSpPr/>
          <p:nvPr/>
        </p:nvSpPr>
        <p:spPr>
          <a:xfrm>
            <a:off x="2377440" y="1737360"/>
            <a:ext cx="3566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err="1">
                <a:solidFill>
                  <a:schemeClr val="tx1">
                    <a:lumMod val="76000"/>
                    <a:lumOff val="24000"/>
                  </a:schemeClr>
                </a:solidFill>
                <a:latin typeface="Calibri"/>
                <a:ea typeface="Calibri"/>
                <a:cs typeface="Calibri"/>
              </a:rPr>
              <a:t>Hipotonično</a:t>
            </a:r>
            <a:r>
              <a:rPr lang="en-US" sz="1400" b="1">
                <a:solidFill>
                  <a:schemeClr val="tx1">
                    <a:lumMod val="76000"/>
                    <a:lumOff val="24000"/>
                  </a:schemeClr>
                </a:solidFill>
                <a:latin typeface="Calibri"/>
                <a:ea typeface="Calibri"/>
                <a:cs typeface="Calibri"/>
              </a:rPr>
              <a:t> vs. </a:t>
            </a:r>
            <a:r>
              <a:rPr lang="en-US" sz="1400" b="1" err="1">
                <a:solidFill>
                  <a:schemeClr val="tx1">
                    <a:lumMod val="76000"/>
                    <a:lumOff val="24000"/>
                  </a:schemeClr>
                </a:solidFill>
                <a:latin typeface="Calibri"/>
                <a:ea typeface="Calibri"/>
                <a:cs typeface="Calibri"/>
              </a:rPr>
              <a:t>kontrola</a:t>
            </a:r>
            <a:endParaRPr lang="en-US" sz="1400" err="1">
              <a:solidFill>
                <a:schemeClr val="tx1">
                  <a:lumMod val="76000"/>
                  <a:lumOff val="24000"/>
                </a:schemeClr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9" name="Shape 7"/>
          <p:cNvSpPr/>
          <p:nvPr/>
        </p:nvSpPr>
        <p:spPr>
          <a:xfrm>
            <a:off x="548640" y="2651760"/>
            <a:ext cx="5486400" cy="822960"/>
          </a:xfrm>
          <a:prstGeom prst="rect">
            <a:avLst/>
          </a:prstGeom>
          <a:solidFill>
            <a:srgbClr val="FEF9EE"/>
          </a:solidFill>
          <a:ln w="12700">
            <a:solidFill>
              <a:srgbClr val="FEF9EE"/>
            </a:solidFill>
            <a:prstDash val="solid"/>
          </a:ln>
        </p:spPr>
        <p:txBody>
          <a:bodyPr/>
          <a:lstStyle/>
          <a:p>
            <a:endParaRPr lang="en-SI"/>
          </a:p>
        </p:txBody>
      </p:sp>
      <p:sp>
        <p:nvSpPr>
          <p:cNvPr id="10" name="Shape 8"/>
          <p:cNvSpPr/>
          <p:nvPr/>
        </p:nvSpPr>
        <p:spPr>
          <a:xfrm>
            <a:off x="548640" y="2651760"/>
            <a:ext cx="109728" cy="82296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en-SI"/>
          </a:p>
        </p:txBody>
      </p:sp>
      <p:sp>
        <p:nvSpPr>
          <p:cNvPr id="11" name="Text 9"/>
          <p:cNvSpPr/>
          <p:nvPr/>
        </p:nvSpPr>
        <p:spPr>
          <a:xfrm>
            <a:off x="777240" y="2697480"/>
            <a:ext cx="1554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2 487</a:t>
            </a:r>
            <a:endParaRPr lang="en-US" sz="3000"/>
          </a:p>
        </p:txBody>
      </p:sp>
      <p:sp>
        <p:nvSpPr>
          <p:cNvPr id="12" name="Text 10"/>
          <p:cNvSpPr/>
          <p:nvPr/>
        </p:nvSpPr>
        <p:spPr>
          <a:xfrm>
            <a:off x="2377440" y="2697480"/>
            <a:ext cx="3566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err="1">
                <a:solidFill>
                  <a:schemeClr val="tx1">
                    <a:lumMod val="76000"/>
                    <a:lumOff val="24000"/>
                  </a:schemeClr>
                </a:solidFill>
                <a:latin typeface="Calibri"/>
                <a:ea typeface="Calibri"/>
                <a:cs typeface="Calibri"/>
              </a:rPr>
              <a:t>Stradanje</a:t>
            </a:r>
            <a:r>
              <a:rPr lang="en-US" sz="1400" b="1">
                <a:solidFill>
                  <a:schemeClr val="tx1">
                    <a:lumMod val="76000"/>
                    <a:lumOff val="24000"/>
                  </a:schemeClr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400" b="1" err="1">
                <a:solidFill>
                  <a:schemeClr val="tx1">
                    <a:lumMod val="76000"/>
                    <a:lumOff val="24000"/>
                  </a:schemeClr>
                </a:solidFill>
                <a:latin typeface="Calibri"/>
                <a:ea typeface="Calibri"/>
                <a:cs typeface="Calibri"/>
              </a:rPr>
              <a:t>aminokislin</a:t>
            </a:r>
            <a:r>
              <a:rPr lang="en-US" sz="1400" b="1">
                <a:solidFill>
                  <a:schemeClr val="tx1">
                    <a:lumMod val="76000"/>
                    <a:lumOff val="24000"/>
                  </a:schemeClr>
                </a:solidFill>
                <a:latin typeface="Calibri"/>
                <a:ea typeface="Calibri"/>
                <a:cs typeface="Calibri"/>
              </a:rPr>
              <a:t> vs. </a:t>
            </a:r>
            <a:r>
              <a:rPr lang="en-US" sz="1400" b="1" err="1">
                <a:solidFill>
                  <a:schemeClr val="tx1">
                    <a:lumMod val="76000"/>
                    <a:lumOff val="24000"/>
                  </a:schemeClr>
                </a:solidFill>
                <a:latin typeface="Calibri"/>
                <a:ea typeface="Calibri"/>
                <a:cs typeface="Calibri"/>
              </a:rPr>
              <a:t>kontrola</a:t>
            </a:r>
            <a:endParaRPr lang="en-US" sz="1400" err="1">
              <a:solidFill>
                <a:schemeClr val="tx1">
                  <a:lumMod val="76000"/>
                  <a:lumOff val="24000"/>
                </a:schemeClr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548640" y="3611880"/>
            <a:ext cx="5486400" cy="822960"/>
          </a:xfrm>
          <a:prstGeom prst="rect">
            <a:avLst/>
          </a:prstGeom>
          <a:solidFill>
            <a:srgbClr val="FEF9EE"/>
          </a:solidFill>
          <a:ln w="12700">
            <a:solidFill>
              <a:srgbClr val="FEF9EE"/>
            </a:solidFill>
            <a:prstDash val="solid"/>
          </a:ln>
        </p:spPr>
        <p:txBody>
          <a:bodyPr/>
          <a:lstStyle/>
          <a:p>
            <a:endParaRPr lang="en-SI"/>
          </a:p>
        </p:txBody>
      </p:sp>
      <p:sp>
        <p:nvSpPr>
          <p:cNvPr id="14" name="Shape 12"/>
          <p:cNvSpPr/>
          <p:nvPr/>
        </p:nvSpPr>
        <p:spPr>
          <a:xfrm>
            <a:off x="548640" y="3611880"/>
            <a:ext cx="109728" cy="822960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  <p:txBody>
          <a:bodyPr/>
          <a:lstStyle/>
          <a:p>
            <a:endParaRPr lang="en-SI"/>
          </a:p>
        </p:txBody>
      </p:sp>
      <p:sp>
        <p:nvSpPr>
          <p:cNvPr id="15" name="Text 13"/>
          <p:cNvSpPr/>
          <p:nvPr/>
        </p:nvSpPr>
        <p:spPr>
          <a:xfrm>
            <a:off x="777240" y="3657600"/>
            <a:ext cx="1554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3 056</a:t>
            </a:r>
            <a:endParaRPr lang="en-US" sz="3000"/>
          </a:p>
        </p:txBody>
      </p:sp>
      <p:sp>
        <p:nvSpPr>
          <p:cNvPr id="16" name="Text 14"/>
          <p:cNvSpPr/>
          <p:nvPr/>
        </p:nvSpPr>
        <p:spPr>
          <a:xfrm>
            <a:off x="2377440" y="3657600"/>
            <a:ext cx="3566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err="1">
                <a:solidFill>
                  <a:schemeClr val="tx1">
                    <a:lumMod val="76000"/>
                    <a:lumOff val="24000"/>
                  </a:schemeClr>
                </a:solidFill>
                <a:latin typeface="Calibri"/>
                <a:ea typeface="Calibri"/>
                <a:cs typeface="Calibri"/>
              </a:rPr>
              <a:t>Stradanje</a:t>
            </a:r>
            <a:r>
              <a:rPr lang="en-US" sz="1400" b="1">
                <a:solidFill>
                  <a:schemeClr val="tx1">
                    <a:lumMod val="76000"/>
                    <a:lumOff val="24000"/>
                  </a:schemeClr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400" b="1" err="1">
                <a:solidFill>
                  <a:schemeClr val="tx1">
                    <a:lumMod val="76000"/>
                    <a:lumOff val="24000"/>
                  </a:schemeClr>
                </a:solidFill>
                <a:latin typeface="Calibri"/>
                <a:ea typeface="Calibri"/>
                <a:cs typeface="Calibri"/>
              </a:rPr>
              <a:t>glukoze</a:t>
            </a:r>
            <a:r>
              <a:rPr lang="en-US" sz="1400" b="1">
                <a:solidFill>
                  <a:schemeClr val="tx1">
                    <a:lumMod val="76000"/>
                    <a:lumOff val="24000"/>
                  </a:schemeClr>
                </a:solidFill>
                <a:latin typeface="Calibri"/>
                <a:ea typeface="Calibri"/>
                <a:cs typeface="Calibri"/>
              </a:rPr>
              <a:t> vs. </a:t>
            </a:r>
            <a:r>
              <a:rPr lang="en-US" sz="1400" b="1" err="1">
                <a:solidFill>
                  <a:schemeClr val="tx1">
                    <a:lumMod val="76000"/>
                    <a:lumOff val="24000"/>
                  </a:schemeClr>
                </a:solidFill>
                <a:latin typeface="Calibri"/>
                <a:ea typeface="Calibri"/>
                <a:cs typeface="Calibri"/>
              </a:rPr>
              <a:t>kontrola</a:t>
            </a:r>
            <a:endParaRPr lang="en-US" sz="1400" err="1">
              <a:solidFill>
                <a:schemeClr val="tx1">
                  <a:lumMod val="76000"/>
                  <a:lumOff val="24000"/>
                </a:schemeClr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548639" y="4689157"/>
            <a:ext cx="3593307" cy="1296354"/>
          </a:xfrm>
          <a:prstGeom prst="rect">
            <a:avLst/>
          </a:prstGeom>
          <a:solidFill>
            <a:srgbClr val="FEF9EE"/>
          </a:solidFill>
          <a:ln w="12700">
            <a:noFill/>
            <a:prstDash val="solid"/>
          </a:ln>
          <a:effectLst>
            <a:outerShdw blurRad="1270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SI"/>
          </a:p>
        </p:txBody>
      </p:sp>
      <p:sp>
        <p:nvSpPr>
          <p:cNvPr id="18" name="Shape 16"/>
          <p:cNvSpPr/>
          <p:nvPr/>
        </p:nvSpPr>
        <p:spPr>
          <a:xfrm>
            <a:off x="548640" y="4689157"/>
            <a:ext cx="216884" cy="1296354"/>
          </a:xfrm>
          <a:prstGeom prst="rect">
            <a:avLst/>
          </a:prstGeom>
          <a:solidFill>
            <a:srgbClr val="0A423E"/>
          </a:solidFill>
          <a:ln w="12700">
            <a:noFill/>
            <a:prstDash val="solid"/>
          </a:ln>
        </p:spPr>
        <p:txBody>
          <a:bodyPr/>
          <a:lstStyle/>
          <a:p>
            <a:endParaRPr lang="en-SI"/>
          </a:p>
        </p:txBody>
      </p:sp>
      <p:sp>
        <p:nvSpPr>
          <p:cNvPr id="19" name="Text 17"/>
          <p:cNvSpPr/>
          <p:nvPr/>
        </p:nvSpPr>
        <p:spPr>
          <a:xfrm>
            <a:off x="967740" y="4685348"/>
            <a:ext cx="1677829" cy="13039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600" b="1">
                <a:solidFill>
                  <a:srgbClr val="0A423E"/>
                </a:solidFill>
                <a:latin typeface="Calibri"/>
                <a:ea typeface="Calibri"/>
                <a:cs typeface="Calibri"/>
              </a:rPr>
              <a:t>150</a:t>
            </a:r>
            <a:endParaRPr lang="en-US" sz="5600">
              <a:solidFill>
                <a:srgbClr val="0A423E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2582227" y="5084921"/>
            <a:ext cx="3827621" cy="5453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000" b="1">
                <a:solidFill>
                  <a:srgbClr val="0A423E"/>
                </a:solidFill>
                <a:latin typeface="Calibri"/>
                <a:ea typeface="Calibri"/>
                <a:cs typeface="Calibri"/>
              </a:rPr>
              <a:t>V </a:t>
            </a:r>
            <a:r>
              <a:rPr lang="en-US" sz="2000" b="1" err="1">
                <a:solidFill>
                  <a:srgbClr val="0A423E"/>
                </a:solidFill>
                <a:latin typeface="Calibri"/>
                <a:ea typeface="Calibri"/>
                <a:cs typeface="Calibri"/>
              </a:rPr>
              <a:t>vseh</a:t>
            </a:r>
            <a:endParaRPr lang="en-US" sz="2000" b="1">
              <a:solidFill>
                <a:srgbClr val="0A423E"/>
              </a:solidFill>
              <a:ea typeface="Calibri"/>
              <a:cs typeface="Calibri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6400800" y="15544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30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Vennov diagram preseka DEG</a:t>
            </a:r>
            <a:endParaRPr lang="en-US" sz="1200"/>
          </a:p>
        </p:txBody>
      </p:sp>
      <p:pic>
        <p:nvPicPr>
          <p:cNvPr id="23" name="Image 0" descr="/sessions/jolly-blissful-dijkstra/mnt/outputs/img/venn.png"/>
          <p:cNvPicPr>
            <a:picLocks noChangeAspect="1"/>
          </p:cNvPicPr>
          <p:nvPr/>
        </p:nvPicPr>
        <p:blipFill>
          <a:blip r:embed="rId3"/>
          <a:srcRect l="7947" t="738" r="-1236" b="-1676"/>
          <a:stretch>
            <a:fillRect/>
          </a:stretch>
        </p:blipFill>
        <p:spPr>
          <a:xfrm>
            <a:off x="6829425" y="1904238"/>
            <a:ext cx="5032921" cy="4061075"/>
          </a:xfrm>
          <a:prstGeom prst="rect">
            <a:avLst/>
          </a:prstGeom>
        </p:spPr>
      </p:pic>
      <p:sp>
        <p:nvSpPr>
          <p:cNvPr id="24" name="Shape 21"/>
          <p:cNvSpPr/>
          <p:nvPr/>
        </p:nvSpPr>
        <p:spPr>
          <a:xfrm>
            <a:off x="0" y="6537960"/>
            <a:ext cx="12161520" cy="320040"/>
          </a:xfrm>
          <a:prstGeom prst="rect">
            <a:avLst/>
          </a:prstGeom>
          <a:solidFill>
            <a:srgbClr val="FEF9EE"/>
          </a:solidFill>
          <a:ln w="12700">
            <a:solidFill>
              <a:srgbClr val="FEF9EE"/>
            </a:solidFill>
            <a:prstDash val="solid"/>
          </a:ln>
        </p:spPr>
        <p:txBody>
          <a:bodyPr/>
          <a:lstStyle/>
          <a:p>
            <a:endParaRPr lang="en-SI"/>
          </a:p>
        </p:txBody>
      </p:sp>
      <p:sp>
        <p:nvSpPr>
          <p:cNvPr id="25" name="Shape 22"/>
          <p:cNvSpPr/>
          <p:nvPr/>
        </p:nvSpPr>
        <p:spPr>
          <a:xfrm>
            <a:off x="0" y="6537960"/>
            <a:ext cx="548640" cy="32004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en-SI"/>
          </a:p>
        </p:txBody>
      </p:sp>
      <p:sp>
        <p:nvSpPr>
          <p:cNvPr id="26" name="Text 23"/>
          <p:cNvSpPr/>
          <p:nvPr/>
        </p:nvSpPr>
        <p:spPr>
          <a:xfrm>
            <a:off x="0" y="653796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/>
          </a:p>
        </p:txBody>
      </p:sp>
      <p:sp>
        <p:nvSpPr>
          <p:cNvPr id="27" name="Text 24"/>
          <p:cNvSpPr/>
          <p:nvPr/>
        </p:nvSpPr>
        <p:spPr>
          <a:xfrm>
            <a:off x="640080" y="65379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Funkcijska genomika - Seminar - Aljaž Kos</a:t>
            </a:r>
            <a:r>
              <a:rPr lang="sl-SI" sz="1000">
                <a:solidFill>
                  <a:schemeClr val="bg2">
                    <a:lumMod val="5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, Simon Kristl</a:t>
            </a:r>
            <a:endParaRPr lang="en-US" sz="1000"/>
          </a:p>
        </p:txBody>
      </p:sp>
      <p:sp>
        <p:nvSpPr>
          <p:cNvPr id="28" name="Text 25"/>
          <p:cNvSpPr/>
          <p:nvPr/>
        </p:nvSpPr>
        <p:spPr>
          <a:xfrm>
            <a:off x="7132320" y="653796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i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S. cerevisiae | Univerzalni stresni markerji</a:t>
            </a:r>
            <a:endParaRPr lang="en-US" sz="10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EF9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REZULTATI | SKUPNI ODZIV</a:t>
            </a:r>
            <a:endParaRPr lang="en-US" sz="1100"/>
          </a:p>
        </p:txBody>
      </p:sp>
      <p:sp>
        <p:nvSpPr>
          <p:cNvPr id="3" name="Text 1"/>
          <p:cNvSpPr/>
          <p:nvPr/>
        </p:nvSpPr>
        <p:spPr>
          <a:xfrm>
            <a:off x="548640" y="54864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150 skupnih DEG-ov: heatmap log2FC</a:t>
            </a:r>
            <a:endParaRPr lang="en-US" sz="3000"/>
          </a:p>
        </p:txBody>
      </p:sp>
      <p:sp>
        <p:nvSpPr>
          <p:cNvPr id="4" name="Shape 2"/>
          <p:cNvSpPr/>
          <p:nvPr/>
        </p:nvSpPr>
        <p:spPr>
          <a:xfrm>
            <a:off x="548640" y="1234440"/>
            <a:ext cx="548640" cy="5486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SI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4114800" cy="4434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270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SI"/>
          </a:p>
        </p:txBody>
      </p:sp>
      <p:sp>
        <p:nvSpPr>
          <p:cNvPr id="6" name="Shape 4"/>
          <p:cNvSpPr/>
          <p:nvPr/>
        </p:nvSpPr>
        <p:spPr>
          <a:xfrm>
            <a:off x="548640" y="1691640"/>
            <a:ext cx="4114800" cy="914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SI"/>
          </a:p>
        </p:txBody>
      </p:sp>
      <p:pic>
        <p:nvPicPr>
          <p:cNvPr id="7" name="Image 0" descr="Bar chart with solid fill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31520" y="1920240"/>
            <a:ext cx="411480" cy="41148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234440" y="1901952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Kaj prikazuje?</a:t>
            </a:r>
            <a:endParaRPr lang="en-US" sz="1600"/>
          </a:p>
        </p:txBody>
      </p:sp>
      <p:sp>
        <p:nvSpPr>
          <p:cNvPr id="9" name="Text 6"/>
          <p:cNvSpPr/>
          <p:nvPr/>
        </p:nvSpPr>
        <p:spPr>
          <a:xfrm>
            <a:off x="777240" y="2468880"/>
            <a:ext cx="37490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800"/>
              </a:spcAft>
              <a:buNone/>
            </a:pPr>
            <a:r>
              <a:rPr lang="en-US" sz="1300" err="1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Vrstice</a:t>
            </a:r>
            <a:r>
              <a:rPr lang="en-US" sz="13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 = top 20 </a:t>
            </a:r>
            <a:r>
              <a:rPr lang="en-US" sz="1300" err="1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skupnih</a:t>
            </a:r>
            <a:r>
              <a:rPr lang="en-US" sz="13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 DEG-</a:t>
            </a:r>
            <a:r>
              <a:rPr lang="en-US" sz="1300" err="1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ov</a:t>
            </a:r>
            <a:endParaRPr lang="en-US" sz="1300" err="1">
              <a:latin typeface="Calibri"/>
              <a:ea typeface="Calibri"/>
              <a:cs typeface="Calibri"/>
            </a:endParaRPr>
          </a:p>
          <a:p>
            <a:pPr>
              <a:spcAft>
                <a:spcPts val="800"/>
              </a:spcAft>
            </a:pPr>
            <a:r>
              <a:rPr lang="en-US" sz="13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Simboli =  </a:t>
            </a:r>
            <a:r>
              <a:rPr lang="en-US" sz="1300" err="1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vsak</a:t>
            </a:r>
            <a:r>
              <a:rPr lang="en-US" sz="13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300" err="1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predstavlj</a:t>
            </a:r>
            <a:r>
              <a:rPr lang="en-US" sz="13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300" err="1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različen</a:t>
            </a:r>
            <a:r>
              <a:rPr lang="en-US" sz="13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300" err="1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stresni</a:t>
            </a:r>
            <a:r>
              <a:rPr lang="en-US" sz="13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300" err="1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pogoj</a:t>
            </a:r>
            <a:endParaRPr lang="en-US" sz="1300" err="1">
              <a:latin typeface="Calibri"/>
              <a:ea typeface="Calibri"/>
              <a:cs typeface="Calibri"/>
            </a:endParaRPr>
          </a:p>
          <a:p>
            <a:r>
              <a:rPr lang="en-US" sz="1300" err="1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Premik</a:t>
            </a:r>
            <a:r>
              <a:rPr lang="en-US" sz="13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 = </a:t>
            </a:r>
            <a:r>
              <a:rPr lang="en-US" sz="1300" err="1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levo</a:t>
            </a:r>
            <a:r>
              <a:rPr lang="en-US" sz="13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300" err="1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zmanjšana</a:t>
            </a:r>
            <a:r>
              <a:rPr lang="en-US" sz="13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300" err="1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transkripcija</a:t>
            </a:r>
            <a:r>
              <a:rPr lang="en-US" sz="13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 / </a:t>
            </a:r>
            <a:r>
              <a:rPr lang="en-US" sz="1300" err="1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desno</a:t>
            </a:r>
            <a:r>
              <a:rPr lang="en-US" sz="13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300" err="1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povečana</a:t>
            </a:r>
            <a:r>
              <a:rPr lang="en-US" sz="13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300" err="1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transkripcija</a:t>
            </a:r>
            <a:r>
              <a:rPr lang="en-US" sz="13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 glede </a:t>
            </a:r>
            <a:r>
              <a:rPr lang="en-US" sz="1300" err="1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na</a:t>
            </a:r>
            <a:r>
              <a:rPr lang="en-US" sz="13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 </a:t>
            </a:r>
            <a:r>
              <a:rPr lang="en-US" sz="1300" err="1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kontrolo</a:t>
            </a:r>
          </a:p>
        </p:txBody>
      </p:sp>
      <p:sp>
        <p:nvSpPr>
          <p:cNvPr id="10" name="Shape 7"/>
          <p:cNvSpPr/>
          <p:nvPr/>
        </p:nvSpPr>
        <p:spPr>
          <a:xfrm>
            <a:off x="777240" y="4160520"/>
            <a:ext cx="3657600" cy="1828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SI"/>
          </a:p>
        </p:txBody>
      </p:sp>
      <p:sp>
        <p:nvSpPr>
          <p:cNvPr id="11" name="Text 8"/>
          <p:cNvSpPr/>
          <p:nvPr/>
        </p:nvSpPr>
        <p:spPr>
          <a:xfrm>
            <a:off x="777240" y="42976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OPAŽANJE</a:t>
            </a:r>
            <a:endParaRPr lang="en-US" sz="1100"/>
          </a:p>
        </p:txBody>
      </p:sp>
      <p:sp>
        <p:nvSpPr>
          <p:cNvPr id="12" name="Text 9"/>
          <p:cNvSpPr/>
          <p:nvPr/>
        </p:nvSpPr>
        <p:spPr>
          <a:xfrm>
            <a:off x="777240" y="4645152"/>
            <a:ext cx="374904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300" i="1" err="1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Namerno</a:t>
            </a:r>
            <a:r>
              <a:rPr lang="en-US" sz="1300" i="1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300" i="1" err="1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puščeni</a:t>
            </a:r>
            <a:r>
              <a:rPr lang="en-US" sz="1300" i="1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 so </a:t>
            </a:r>
            <a:r>
              <a:rPr lang="en-US" sz="1300" i="1" err="1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bili</a:t>
            </a:r>
            <a:r>
              <a:rPr lang="en-US" sz="1300" i="1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300" i="1" err="1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odmiki</a:t>
            </a:r>
            <a:r>
              <a:rPr lang="en-US" sz="1300" i="1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 v </a:t>
            </a:r>
            <a:r>
              <a:rPr lang="en-US" sz="1300" i="1" err="1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različne</a:t>
            </a:r>
            <a:r>
              <a:rPr lang="en-US" sz="1300" i="1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300" i="1" err="1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smeri</a:t>
            </a:r>
            <a:r>
              <a:rPr lang="en-US" sz="1300" i="1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, za </a:t>
            </a:r>
            <a:r>
              <a:rPr lang="en-US" sz="1300" i="1" err="1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prikaz</a:t>
            </a:r>
            <a:r>
              <a:rPr lang="en-US" sz="1300" i="1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 </a:t>
            </a:r>
            <a:r>
              <a:rPr lang="en-US" sz="1300" i="1" err="1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kontrasta</a:t>
            </a:r>
            <a:r>
              <a:rPr lang="en-US" sz="1300" i="1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 </a:t>
            </a:r>
            <a:r>
              <a:rPr lang="en-US" sz="1300" i="1" err="1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stresnih</a:t>
            </a:r>
            <a:r>
              <a:rPr lang="en-US" sz="1300" i="1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300" i="1" err="1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odzivov</a:t>
            </a:r>
            <a:r>
              <a:rPr lang="en-US" sz="1300" i="1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. </a:t>
            </a:r>
            <a:r>
              <a:rPr lang="en-US" sz="1300" i="1" err="1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Kljub</a:t>
            </a:r>
            <a:r>
              <a:rPr lang="en-US" sz="1300" i="1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300" i="1" err="1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temu</a:t>
            </a:r>
            <a:r>
              <a:rPr lang="en-US" sz="1300" i="1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 </a:t>
            </a:r>
            <a:r>
              <a:rPr lang="en-US" sz="1300" i="1" err="1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vseeno</a:t>
            </a:r>
            <a:r>
              <a:rPr lang="en-US" sz="1300" i="1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 </a:t>
            </a:r>
            <a:r>
              <a:rPr lang="en-US" sz="1300" i="1" err="1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vidimo</a:t>
            </a:r>
            <a:r>
              <a:rPr lang="en-US" sz="1300" i="1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 v </a:t>
            </a:r>
            <a:r>
              <a:rPr lang="en-US" sz="1300" i="1" err="1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redkih</a:t>
            </a:r>
            <a:r>
              <a:rPr lang="en-US" sz="1300" i="1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300" i="1" err="1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primerih</a:t>
            </a:r>
            <a:r>
              <a:rPr lang="en-US" sz="1300" i="1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 </a:t>
            </a:r>
            <a:r>
              <a:rPr lang="en-US" sz="1300" i="1" err="1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pozitivno</a:t>
            </a:r>
            <a:r>
              <a:rPr lang="en-US" sz="1300" i="1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300" i="1" err="1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modulacijo</a:t>
            </a:r>
            <a:r>
              <a:rPr lang="en-US" sz="1300" i="1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 v </a:t>
            </a:r>
            <a:r>
              <a:rPr lang="en-US" sz="1300" i="1" err="1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vseh</a:t>
            </a:r>
            <a:r>
              <a:rPr lang="en-US" sz="1300" i="1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300" i="1" err="1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treh</a:t>
            </a:r>
            <a:r>
              <a:rPr lang="en-US" sz="1300" i="1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300" i="1" err="1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primerih</a:t>
            </a:r>
            <a:r>
              <a:rPr lang="en-US" sz="1300" i="1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.</a:t>
            </a:r>
          </a:p>
        </p:txBody>
      </p:sp>
      <p:sp>
        <p:nvSpPr>
          <p:cNvPr id="14" name="Shape 10"/>
          <p:cNvSpPr/>
          <p:nvPr/>
        </p:nvSpPr>
        <p:spPr>
          <a:xfrm>
            <a:off x="0" y="6537960"/>
            <a:ext cx="12161520" cy="320040"/>
          </a:xfrm>
          <a:prstGeom prst="rect">
            <a:avLst/>
          </a:prstGeom>
          <a:solidFill>
            <a:srgbClr val="FEF9EE"/>
          </a:solidFill>
          <a:ln w="12700">
            <a:solidFill>
              <a:srgbClr val="FEF9EE"/>
            </a:solidFill>
            <a:prstDash val="solid"/>
          </a:ln>
        </p:spPr>
        <p:txBody>
          <a:bodyPr/>
          <a:lstStyle/>
          <a:p>
            <a:endParaRPr lang="en-SI"/>
          </a:p>
        </p:txBody>
      </p:sp>
      <p:sp>
        <p:nvSpPr>
          <p:cNvPr id="15" name="Shape 11"/>
          <p:cNvSpPr/>
          <p:nvPr/>
        </p:nvSpPr>
        <p:spPr>
          <a:xfrm>
            <a:off x="0" y="6537960"/>
            <a:ext cx="548640" cy="32004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en-SI"/>
          </a:p>
        </p:txBody>
      </p:sp>
      <p:sp>
        <p:nvSpPr>
          <p:cNvPr id="16" name="Text 12"/>
          <p:cNvSpPr/>
          <p:nvPr/>
        </p:nvSpPr>
        <p:spPr>
          <a:xfrm>
            <a:off x="0" y="653796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200"/>
          </a:p>
        </p:txBody>
      </p:sp>
      <p:sp>
        <p:nvSpPr>
          <p:cNvPr id="17" name="Text 13"/>
          <p:cNvSpPr/>
          <p:nvPr/>
        </p:nvSpPr>
        <p:spPr>
          <a:xfrm>
            <a:off x="640080" y="65379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Funkcijska genomika - Seminar - Aljaž Kos</a:t>
            </a:r>
            <a:r>
              <a:rPr lang="sl-SI" sz="1000">
                <a:solidFill>
                  <a:schemeClr val="bg2">
                    <a:lumMod val="5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, Simon Kristl</a:t>
            </a:r>
            <a:endParaRPr lang="en-US" sz="1000"/>
          </a:p>
        </p:txBody>
      </p:sp>
      <p:sp>
        <p:nvSpPr>
          <p:cNvPr id="18" name="Text 14"/>
          <p:cNvSpPr/>
          <p:nvPr/>
        </p:nvSpPr>
        <p:spPr>
          <a:xfrm>
            <a:off x="7132320" y="653796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i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S. cerevisiae | Univerzalni stresni markerji</a:t>
            </a:r>
            <a:endParaRPr lang="en-US" sz="1000"/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FC9898E1-0CDF-6FAC-0DC6-3FCADF8599C1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7478" r="48"/>
          <a:stretch>
            <a:fillRect/>
          </a:stretch>
        </p:blipFill>
        <p:spPr>
          <a:xfrm>
            <a:off x="5102352" y="1679312"/>
            <a:ext cx="6416007" cy="4619242"/>
          </a:xfrm>
          <a:prstGeom prst="rect">
            <a:avLst/>
          </a:prstGeom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REZULTATI | FUNKCIJSKA ANALIZA</a:t>
            </a:r>
            <a:endParaRPr lang="en-US" sz="1100"/>
          </a:p>
        </p:txBody>
      </p:sp>
      <p:sp>
        <p:nvSpPr>
          <p:cNvPr id="3" name="Text 1"/>
          <p:cNvSpPr/>
          <p:nvPr/>
        </p:nvSpPr>
        <p:spPr>
          <a:xfrm>
            <a:off x="548640" y="54864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 Enrichment: obogateni biološki procesi</a:t>
            </a:r>
            <a:endParaRPr lang="en-US" sz="3000"/>
          </a:p>
        </p:txBody>
      </p:sp>
      <p:sp>
        <p:nvSpPr>
          <p:cNvPr id="4" name="Shape 2"/>
          <p:cNvSpPr/>
          <p:nvPr/>
        </p:nvSpPr>
        <p:spPr>
          <a:xfrm>
            <a:off x="548640" y="1234440"/>
            <a:ext cx="548640" cy="5486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SI"/>
          </a:p>
        </p:txBody>
      </p:sp>
      <p:pic>
        <p:nvPicPr>
          <p:cNvPr id="5" name="Image 0" descr="/sessions/jolly-blissful-dijkstra/mnt/outputs/img/go_bp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48640" y="1554480"/>
            <a:ext cx="5760720" cy="457200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6583680" y="1691640"/>
            <a:ext cx="5029200" cy="1005840"/>
          </a:xfrm>
          <a:prstGeom prst="rect">
            <a:avLst/>
          </a:prstGeom>
          <a:solidFill>
            <a:srgbClr val="FEF9EE"/>
          </a:solidFill>
          <a:ln w="12700">
            <a:solidFill>
              <a:srgbClr val="FEF9EE"/>
            </a:solidFill>
            <a:prstDash val="solid"/>
          </a:ln>
        </p:spPr>
        <p:txBody>
          <a:bodyPr/>
          <a:lstStyle/>
          <a:p>
            <a:endParaRPr lang="en-SI"/>
          </a:p>
        </p:txBody>
      </p:sp>
      <p:sp>
        <p:nvSpPr>
          <p:cNvPr id="7" name="Shape 4"/>
          <p:cNvSpPr/>
          <p:nvPr/>
        </p:nvSpPr>
        <p:spPr>
          <a:xfrm>
            <a:off x="6583680" y="1691640"/>
            <a:ext cx="91440" cy="100584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en-SI"/>
          </a:p>
        </p:txBody>
      </p:sp>
      <p:sp>
        <p:nvSpPr>
          <p:cNvPr id="8" name="Shape 5"/>
          <p:cNvSpPr/>
          <p:nvPr/>
        </p:nvSpPr>
        <p:spPr>
          <a:xfrm>
            <a:off x="6858000" y="1984248"/>
            <a:ext cx="502920" cy="502920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en-SI"/>
          </a:p>
        </p:txBody>
      </p:sp>
      <p:sp>
        <p:nvSpPr>
          <p:cNvPr id="9" name="Text 6"/>
          <p:cNvSpPr/>
          <p:nvPr/>
        </p:nvSpPr>
        <p:spPr>
          <a:xfrm>
            <a:off x="6846957" y="1995291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/>
          </a:p>
        </p:txBody>
      </p:sp>
      <p:sp>
        <p:nvSpPr>
          <p:cNvPr id="10" name="Text 7"/>
          <p:cNvSpPr/>
          <p:nvPr/>
        </p:nvSpPr>
        <p:spPr>
          <a:xfrm>
            <a:off x="7498080" y="1783080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Procesiranje mRNA</a:t>
            </a:r>
            <a:endParaRPr lang="en-US" sz="1400"/>
          </a:p>
        </p:txBody>
      </p:sp>
      <p:sp>
        <p:nvSpPr>
          <p:cNvPr id="11" name="Text 8"/>
          <p:cNvSpPr/>
          <p:nvPr/>
        </p:nvSpPr>
        <p:spPr>
          <a:xfrm>
            <a:off x="7498080" y="2148840"/>
            <a:ext cx="3931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Celica selektivno regulira procesiranje pre-mRNA pomembnih stresnih transkriptov.</a:t>
            </a:r>
            <a:endParaRPr lang="en-US" sz="1100"/>
          </a:p>
        </p:txBody>
      </p:sp>
      <p:sp>
        <p:nvSpPr>
          <p:cNvPr id="12" name="Shape 9"/>
          <p:cNvSpPr/>
          <p:nvPr/>
        </p:nvSpPr>
        <p:spPr>
          <a:xfrm>
            <a:off x="6583680" y="2752344"/>
            <a:ext cx="5029200" cy="1005840"/>
          </a:xfrm>
          <a:prstGeom prst="rect">
            <a:avLst/>
          </a:prstGeom>
          <a:solidFill>
            <a:srgbClr val="FEF9EE"/>
          </a:solidFill>
          <a:ln w="12700">
            <a:solidFill>
              <a:srgbClr val="FEF9EE"/>
            </a:solidFill>
            <a:prstDash val="solid"/>
          </a:ln>
        </p:spPr>
        <p:txBody>
          <a:bodyPr/>
          <a:lstStyle/>
          <a:p>
            <a:endParaRPr lang="en-SI"/>
          </a:p>
        </p:txBody>
      </p:sp>
      <p:sp>
        <p:nvSpPr>
          <p:cNvPr id="13" name="Shape 10"/>
          <p:cNvSpPr/>
          <p:nvPr/>
        </p:nvSpPr>
        <p:spPr>
          <a:xfrm>
            <a:off x="6583680" y="2752344"/>
            <a:ext cx="91440" cy="100584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en-SI"/>
          </a:p>
        </p:txBody>
      </p:sp>
      <p:sp>
        <p:nvSpPr>
          <p:cNvPr id="14" name="Shape 11"/>
          <p:cNvSpPr/>
          <p:nvPr/>
        </p:nvSpPr>
        <p:spPr>
          <a:xfrm>
            <a:off x="6858000" y="3044952"/>
            <a:ext cx="502920" cy="502920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en-SI"/>
          </a:p>
        </p:txBody>
      </p:sp>
      <p:sp>
        <p:nvSpPr>
          <p:cNvPr id="15" name="Text 12"/>
          <p:cNvSpPr/>
          <p:nvPr/>
        </p:nvSpPr>
        <p:spPr>
          <a:xfrm>
            <a:off x="6846957" y="3055995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/>
          </a:p>
        </p:txBody>
      </p:sp>
      <p:sp>
        <p:nvSpPr>
          <p:cNvPr id="16" name="Text 13"/>
          <p:cNvSpPr/>
          <p:nvPr/>
        </p:nvSpPr>
        <p:spPr>
          <a:xfrm>
            <a:off x="7498080" y="2843784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DNA rekombinacija</a:t>
            </a:r>
            <a:endParaRPr lang="en-US" sz="1400"/>
          </a:p>
        </p:txBody>
      </p:sp>
      <p:sp>
        <p:nvSpPr>
          <p:cNvPr id="17" name="Text 14"/>
          <p:cNvSpPr/>
          <p:nvPr/>
        </p:nvSpPr>
        <p:spPr>
          <a:xfrm>
            <a:off x="7498080" y="3209544"/>
            <a:ext cx="3931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Stres povzroča poškodbe DNA — aktivacija popravljalnih mehanizmov.</a:t>
            </a:r>
            <a:endParaRPr lang="en-US" sz="1100"/>
          </a:p>
        </p:txBody>
      </p:sp>
      <p:sp>
        <p:nvSpPr>
          <p:cNvPr id="18" name="Shape 15"/>
          <p:cNvSpPr/>
          <p:nvPr/>
        </p:nvSpPr>
        <p:spPr>
          <a:xfrm>
            <a:off x="6583680" y="3813048"/>
            <a:ext cx="5029200" cy="1005840"/>
          </a:xfrm>
          <a:prstGeom prst="rect">
            <a:avLst/>
          </a:prstGeom>
          <a:solidFill>
            <a:srgbClr val="FEF9EE"/>
          </a:solidFill>
          <a:ln w="12700">
            <a:solidFill>
              <a:srgbClr val="FEF9EE"/>
            </a:solidFill>
            <a:prstDash val="solid"/>
          </a:ln>
        </p:spPr>
        <p:txBody>
          <a:bodyPr/>
          <a:lstStyle/>
          <a:p>
            <a:endParaRPr lang="en-SI"/>
          </a:p>
        </p:txBody>
      </p:sp>
      <p:sp>
        <p:nvSpPr>
          <p:cNvPr id="19" name="Shape 16"/>
          <p:cNvSpPr/>
          <p:nvPr/>
        </p:nvSpPr>
        <p:spPr>
          <a:xfrm>
            <a:off x="6583680" y="3813048"/>
            <a:ext cx="91440" cy="100584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en-SI"/>
          </a:p>
        </p:txBody>
      </p:sp>
      <p:sp>
        <p:nvSpPr>
          <p:cNvPr id="20" name="Shape 17"/>
          <p:cNvSpPr/>
          <p:nvPr/>
        </p:nvSpPr>
        <p:spPr>
          <a:xfrm>
            <a:off x="6858000" y="4105656"/>
            <a:ext cx="502920" cy="502920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en-SI"/>
          </a:p>
        </p:txBody>
      </p:sp>
      <p:sp>
        <p:nvSpPr>
          <p:cNvPr id="21" name="Text 18"/>
          <p:cNvSpPr/>
          <p:nvPr/>
        </p:nvSpPr>
        <p:spPr>
          <a:xfrm>
            <a:off x="6846957" y="4116699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/>
          </a:p>
        </p:txBody>
      </p:sp>
      <p:sp>
        <p:nvSpPr>
          <p:cNvPr id="22" name="Text 19"/>
          <p:cNvSpPr/>
          <p:nvPr/>
        </p:nvSpPr>
        <p:spPr>
          <a:xfrm>
            <a:off x="7498080" y="3904488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DNA biosintezni proces</a:t>
            </a:r>
            <a:endParaRPr lang="en-US" sz="1400"/>
          </a:p>
        </p:txBody>
      </p:sp>
      <p:sp>
        <p:nvSpPr>
          <p:cNvPr id="23" name="Text 20"/>
          <p:cNvSpPr/>
          <p:nvPr/>
        </p:nvSpPr>
        <p:spPr>
          <a:xfrm>
            <a:off x="7498080" y="4270248"/>
            <a:ext cx="3931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Sprememba v replikaciji in metabolizmu nukleotidov med stresom.</a:t>
            </a:r>
            <a:endParaRPr lang="en-US" sz="1100"/>
          </a:p>
        </p:txBody>
      </p:sp>
      <p:sp>
        <p:nvSpPr>
          <p:cNvPr id="24" name="Shape 21"/>
          <p:cNvSpPr/>
          <p:nvPr/>
        </p:nvSpPr>
        <p:spPr>
          <a:xfrm>
            <a:off x="6583680" y="4873752"/>
            <a:ext cx="5029200" cy="1005840"/>
          </a:xfrm>
          <a:prstGeom prst="rect">
            <a:avLst/>
          </a:prstGeom>
          <a:solidFill>
            <a:srgbClr val="FEF9EE"/>
          </a:solidFill>
          <a:ln w="12700">
            <a:solidFill>
              <a:srgbClr val="FEF9EE"/>
            </a:solidFill>
            <a:prstDash val="solid"/>
          </a:ln>
        </p:spPr>
        <p:txBody>
          <a:bodyPr/>
          <a:lstStyle/>
          <a:p>
            <a:endParaRPr lang="en-SI"/>
          </a:p>
        </p:txBody>
      </p:sp>
      <p:sp>
        <p:nvSpPr>
          <p:cNvPr id="25" name="Shape 22"/>
          <p:cNvSpPr/>
          <p:nvPr/>
        </p:nvSpPr>
        <p:spPr>
          <a:xfrm>
            <a:off x="6583680" y="4873752"/>
            <a:ext cx="91440" cy="100584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en-SI"/>
          </a:p>
        </p:txBody>
      </p:sp>
      <p:sp>
        <p:nvSpPr>
          <p:cNvPr id="26" name="Shape 23"/>
          <p:cNvSpPr/>
          <p:nvPr/>
        </p:nvSpPr>
        <p:spPr>
          <a:xfrm>
            <a:off x="6858000" y="5166360"/>
            <a:ext cx="502920" cy="502920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en-SI"/>
          </a:p>
        </p:txBody>
      </p:sp>
      <p:sp>
        <p:nvSpPr>
          <p:cNvPr id="27" name="Text 24"/>
          <p:cNvSpPr/>
          <p:nvPr/>
        </p:nvSpPr>
        <p:spPr>
          <a:xfrm>
            <a:off x="6846957" y="5177403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/>
          </a:p>
        </p:txBody>
      </p:sp>
      <p:sp>
        <p:nvSpPr>
          <p:cNvPr id="28" name="Text 25"/>
          <p:cNvSpPr/>
          <p:nvPr/>
        </p:nvSpPr>
        <p:spPr>
          <a:xfrm>
            <a:off x="7498080" y="4965192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Respiratorni metabolizem</a:t>
            </a:r>
            <a:endParaRPr lang="en-US" sz="1400"/>
          </a:p>
        </p:txBody>
      </p:sp>
      <p:sp>
        <p:nvSpPr>
          <p:cNvPr id="29" name="Text 26"/>
          <p:cNvSpPr/>
          <p:nvPr/>
        </p:nvSpPr>
        <p:spPr>
          <a:xfrm>
            <a:off x="7498080" y="5330952"/>
            <a:ext cx="3931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Preklop iz fermentacije v dihanje za učinkovitejšo proizvodnjo ATP.</a:t>
            </a:r>
            <a:endParaRPr lang="en-US" sz="1100"/>
          </a:p>
        </p:txBody>
      </p:sp>
      <p:sp>
        <p:nvSpPr>
          <p:cNvPr id="30" name="Text 27"/>
          <p:cNvSpPr/>
          <p:nvPr/>
        </p:nvSpPr>
        <p:spPr>
          <a:xfrm>
            <a:off x="6583680" y="603504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>
                <a:solidFill>
                  <a:srgbClr val="F59E0B"/>
                </a:solidFill>
              </a:rPr>
              <a:t>⚠ </a:t>
            </a:r>
            <a:r>
              <a:rPr lang="en-US" sz="900" i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 BH korekciji rezultati niso strogo signifikantni — 150 genov je malo za zanesljivo GO analizo (eksploratorni rezultati).</a:t>
            </a:r>
            <a:endParaRPr lang="en-US" sz="1000"/>
          </a:p>
        </p:txBody>
      </p:sp>
      <p:sp>
        <p:nvSpPr>
          <p:cNvPr id="31" name="Shape 28"/>
          <p:cNvSpPr/>
          <p:nvPr/>
        </p:nvSpPr>
        <p:spPr>
          <a:xfrm>
            <a:off x="0" y="6537960"/>
            <a:ext cx="12161520" cy="320040"/>
          </a:xfrm>
          <a:prstGeom prst="rect">
            <a:avLst/>
          </a:prstGeom>
          <a:solidFill>
            <a:srgbClr val="FEF9EE"/>
          </a:solidFill>
          <a:ln w="12700">
            <a:solidFill>
              <a:srgbClr val="FEF9EE"/>
            </a:solidFill>
            <a:prstDash val="solid"/>
          </a:ln>
        </p:spPr>
        <p:txBody>
          <a:bodyPr/>
          <a:lstStyle/>
          <a:p>
            <a:endParaRPr lang="en-SI"/>
          </a:p>
        </p:txBody>
      </p:sp>
      <p:sp>
        <p:nvSpPr>
          <p:cNvPr id="32" name="Shape 29"/>
          <p:cNvSpPr/>
          <p:nvPr/>
        </p:nvSpPr>
        <p:spPr>
          <a:xfrm>
            <a:off x="0" y="6537960"/>
            <a:ext cx="548640" cy="32004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en-SI"/>
          </a:p>
        </p:txBody>
      </p:sp>
      <p:sp>
        <p:nvSpPr>
          <p:cNvPr id="33" name="Text 30"/>
          <p:cNvSpPr/>
          <p:nvPr/>
        </p:nvSpPr>
        <p:spPr>
          <a:xfrm>
            <a:off x="0" y="653796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200"/>
          </a:p>
        </p:txBody>
      </p:sp>
      <p:sp>
        <p:nvSpPr>
          <p:cNvPr id="34" name="Text 31"/>
          <p:cNvSpPr/>
          <p:nvPr/>
        </p:nvSpPr>
        <p:spPr>
          <a:xfrm>
            <a:off x="640080" y="65379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Funkcijska genomika - Seminar - Aljaž Kos</a:t>
            </a:r>
            <a:r>
              <a:rPr lang="sl-SI" sz="1000">
                <a:solidFill>
                  <a:schemeClr val="bg2">
                    <a:lumMod val="5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, Simon Kristl</a:t>
            </a:r>
            <a:endParaRPr lang="en-US" sz="1000"/>
          </a:p>
        </p:txBody>
      </p:sp>
      <p:sp>
        <p:nvSpPr>
          <p:cNvPr id="35" name="Text 32"/>
          <p:cNvSpPr/>
          <p:nvPr/>
        </p:nvSpPr>
        <p:spPr>
          <a:xfrm>
            <a:off x="7132320" y="653796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i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S. cerevisiae | Univerzalni stresni markerji</a:t>
            </a:r>
            <a:endParaRPr lang="en-US" sz="10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EF9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00" b="1" kern="0" spc="400">
                <a:solidFill>
                  <a:srgbClr val="0F766E"/>
                </a:solidFill>
                <a:latin typeface="Calibri"/>
                <a:ea typeface="Calibri"/>
                <a:cs typeface="Calibri"/>
              </a:rPr>
              <a:t>REZULTATI | POVEČANA TRANSKRIPCIJA</a:t>
            </a:r>
            <a:endParaRPr lang="en-US" sz="1100">
              <a:latin typeface="Calibri"/>
              <a:ea typeface="Calibri"/>
              <a:cs typeface="Calibri"/>
            </a:endParaRPr>
          </a:p>
        </p:txBody>
      </p:sp>
      <p:sp>
        <p:nvSpPr>
          <p:cNvPr id="3" name="Text 1"/>
          <p:cNvSpPr/>
          <p:nvPr/>
        </p:nvSpPr>
        <p:spPr>
          <a:xfrm>
            <a:off x="548640" y="54864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Ključni geni s povečano transkripcijo</a:t>
            </a:r>
            <a:endParaRPr lang="en-US" sz="3000"/>
          </a:p>
        </p:txBody>
      </p:sp>
      <p:sp>
        <p:nvSpPr>
          <p:cNvPr id="4" name="Shape 2"/>
          <p:cNvSpPr/>
          <p:nvPr/>
        </p:nvSpPr>
        <p:spPr>
          <a:xfrm>
            <a:off x="548640" y="1234440"/>
            <a:ext cx="548640" cy="5486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SI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3703320" cy="4434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270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SI"/>
          </a:p>
        </p:txBody>
      </p:sp>
      <p:sp>
        <p:nvSpPr>
          <p:cNvPr id="6" name="Shape 4"/>
          <p:cNvSpPr/>
          <p:nvPr/>
        </p:nvSpPr>
        <p:spPr>
          <a:xfrm>
            <a:off x="548640" y="1691640"/>
            <a:ext cx="3703320" cy="54864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en-SI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1783080"/>
            <a:ext cx="365760" cy="36576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70194" y="1717470"/>
            <a:ext cx="3060141" cy="5228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b="1" kern="0" spc="4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NAJBOLJ POVIŠANO IZRAŽANJE</a:t>
            </a:r>
            <a:endParaRPr lang="en-US" sz="1000">
              <a:latin typeface="Calibri"/>
              <a:ea typeface="Calibri"/>
              <a:cs typeface="Calibri"/>
            </a:endParaRPr>
          </a:p>
        </p:txBody>
      </p:sp>
      <p:sp>
        <p:nvSpPr>
          <p:cNvPr id="9" name="Text 6"/>
          <p:cNvSpPr/>
          <p:nvPr/>
        </p:nvSpPr>
        <p:spPr>
          <a:xfrm>
            <a:off x="777240" y="2377440"/>
            <a:ext cx="3246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ZNF1</a:t>
            </a:r>
            <a:endParaRPr lang="en-US" sz="3600"/>
          </a:p>
        </p:txBody>
      </p:sp>
      <p:sp>
        <p:nvSpPr>
          <p:cNvPr id="10" name="Text 7"/>
          <p:cNvSpPr/>
          <p:nvPr/>
        </p:nvSpPr>
        <p:spPr>
          <a:xfrm>
            <a:off x="777240" y="3108960"/>
            <a:ext cx="3246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YFL052W</a:t>
            </a:r>
            <a:endParaRPr lang="en-US" sz="1300"/>
          </a:p>
        </p:txBody>
      </p:sp>
      <p:sp>
        <p:nvSpPr>
          <p:cNvPr id="11" name="Shape 8"/>
          <p:cNvSpPr/>
          <p:nvPr/>
        </p:nvSpPr>
        <p:spPr>
          <a:xfrm>
            <a:off x="777240" y="3520440"/>
            <a:ext cx="3246120" cy="1828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SI"/>
          </a:p>
        </p:txBody>
      </p:sp>
      <p:sp>
        <p:nvSpPr>
          <p:cNvPr id="12" name="Text 9"/>
          <p:cNvSpPr/>
          <p:nvPr/>
        </p:nvSpPr>
        <p:spPr>
          <a:xfrm>
            <a:off x="777240" y="3611880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TRANSKRIPCIJSKI FAKTOR</a:t>
            </a:r>
            <a:endParaRPr lang="en-US" sz="1000"/>
          </a:p>
        </p:txBody>
      </p:sp>
      <p:sp>
        <p:nvSpPr>
          <p:cNvPr id="13" name="Text 10"/>
          <p:cNvSpPr/>
          <p:nvPr/>
        </p:nvSpPr>
        <p:spPr>
          <a:xfrm>
            <a:off x="777240" y="3977640"/>
            <a:ext cx="32461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200" err="1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Regulira</a:t>
            </a:r>
            <a:r>
              <a:rPr lang="en-US" sz="12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200" err="1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prehod</a:t>
            </a:r>
            <a:r>
              <a:rPr lang="en-US" sz="12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200" err="1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iz</a:t>
            </a:r>
            <a:r>
              <a:rPr lang="en-US" sz="12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200" err="1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fermentativnega</a:t>
            </a:r>
            <a:r>
              <a:rPr lang="en-US" sz="12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200" err="1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metabolizma</a:t>
            </a:r>
            <a:r>
              <a:rPr lang="en-US" sz="12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 v </a:t>
            </a:r>
            <a:r>
              <a:rPr lang="en-US" sz="1200" err="1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respiratornega</a:t>
            </a:r>
            <a:r>
              <a:rPr lang="en-US" sz="12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. </a:t>
            </a:r>
            <a:r>
              <a:rPr lang="en-US" sz="1200" err="1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Aktivira</a:t>
            </a:r>
            <a:r>
              <a:rPr lang="en-US" sz="12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 gene </a:t>
            </a:r>
            <a:r>
              <a:rPr lang="en-US" sz="1200" err="1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respiratornega</a:t>
            </a:r>
            <a:r>
              <a:rPr lang="en-US" sz="12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200" err="1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metabolizma</a:t>
            </a:r>
            <a:r>
              <a:rPr lang="en-US" sz="12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, gene za </a:t>
            </a:r>
            <a:r>
              <a:rPr lang="en-US" sz="1200" err="1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izrabo</a:t>
            </a:r>
            <a:r>
              <a:rPr lang="en-US" sz="12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200" err="1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alternativnih</a:t>
            </a:r>
            <a:r>
              <a:rPr lang="en-US" sz="12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200" err="1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virov</a:t>
            </a:r>
            <a:r>
              <a:rPr lang="en-US" sz="12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200" err="1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ogljika</a:t>
            </a:r>
            <a:r>
              <a:rPr lang="en-US" sz="12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 in </a:t>
            </a:r>
            <a:r>
              <a:rPr lang="en-US" sz="1200" err="1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zmanjšuje</a:t>
            </a:r>
            <a:r>
              <a:rPr lang="en-US" sz="12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200" err="1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ribosomsko</a:t>
            </a:r>
            <a:r>
              <a:rPr lang="en-US" sz="12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200" err="1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biogenezo</a:t>
            </a:r>
            <a:r>
              <a:rPr lang="en-US" sz="12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.</a:t>
            </a:r>
            <a:endParaRPr lang="en-US" sz="1200">
              <a:latin typeface="Calibri"/>
              <a:ea typeface="Calibri"/>
              <a:cs typeface="Calibri"/>
            </a:endParaRPr>
          </a:p>
        </p:txBody>
      </p:sp>
      <p:sp>
        <p:nvSpPr>
          <p:cNvPr id="14" name="Shape 11"/>
          <p:cNvSpPr/>
          <p:nvPr/>
        </p:nvSpPr>
        <p:spPr>
          <a:xfrm>
            <a:off x="777240" y="5532120"/>
            <a:ext cx="3246120" cy="411480"/>
          </a:xfrm>
          <a:prstGeom prst="rect">
            <a:avLst/>
          </a:prstGeom>
          <a:solidFill>
            <a:srgbClr val="FEF9EE"/>
          </a:solidFill>
          <a:ln w="12700">
            <a:solidFill>
              <a:srgbClr val="FEF9EE"/>
            </a:solidFill>
            <a:prstDash val="solid"/>
          </a:ln>
        </p:spPr>
        <p:txBody>
          <a:bodyPr/>
          <a:lstStyle/>
          <a:p>
            <a:endParaRPr lang="en-SI"/>
          </a:p>
        </p:txBody>
      </p:sp>
      <p:sp>
        <p:nvSpPr>
          <p:cNvPr id="15" name="Text 12"/>
          <p:cNvSpPr/>
          <p:nvPr/>
        </p:nvSpPr>
        <p:spPr>
          <a:xfrm>
            <a:off x="777240" y="5532120"/>
            <a:ext cx="3246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100" b="1" i="1" err="1">
                <a:solidFill>
                  <a:srgbClr val="0F766E"/>
                </a:solidFill>
                <a:latin typeface="Calibri"/>
                <a:ea typeface="Calibri"/>
                <a:cs typeface="Calibri"/>
              </a:rPr>
              <a:t>Metabolni</a:t>
            </a:r>
            <a:r>
              <a:rPr lang="en-US" sz="1100" b="1" i="1">
                <a:solidFill>
                  <a:srgbClr val="0F766E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100" b="1" i="1" err="1">
                <a:solidFill>
                  <a:srgbClr val="0F766E"/>
                </a:solidFill>
                <a:latin typeface="Calibri"/>
                <a:ea typeface="Calibri"/>
                <a:cs typeface="Calibri"/>
              </a:rPr>
              <a:t>prehod</a:t>
            </a:r>
            <a:endParaRPr lang="en-US" sz="1100" b="1" i="1" err="1">
              <a:solidFill>
                <a:srgbClr val="0F766E"/>
              </a:solidFill>
              <a:ea typeface="Calibri"/>
              <a:cs typeface="Calibri"/>
            </a:endParaRPr>
          </a:p>
        </p:txBody>
      </p:sp>
      <p:sp>
        <p:nvSpPr>
          <p:cNvPr id="16" name="Shape 13"/>
          <p:cNvSpPr/>
          <p:nvPr/>
        </p:nvSpPr>
        <p:spPr>
          <a:xfrm>
            <a:off x="4416552" y="1691640"/>
            <a:ext cx="3703320" cy="4434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270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SI"/>
          </a:p>
        </p:txBody>
      </p:sp>
      <p:sp>
        <p:nvSpPr>
          <p:cNvPr id="17" name="Shape 14"/>
          <p:cNvSpPr/>
          <p:nvPr/>
        </p:nvSpPr>
        <p:spPr>
          <a:xfrm>
            <a:off x="4416552" y="1691640"/>
            <a:ext cx="3703320" cy="54864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en-SI"/>
          </a:p>
        </p:txBody>
      </p:sp>
      <p:pic>
        <p:nvPicPr>
          <p:cNvPr id="18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45152" y="1783080"/>
            <a:ext cx="365760" cy="365760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5148072" y="1691640"/>
            <a:ext cx="2788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POVIŠANO IZRAŽANJE</a:t>
            </a:r>
            <a:endParaRPr lang="en-US" sz="1000"/>
          </a:p>
        </p:txBody>
      </p:sp>
      <p:sp>
        <p:nvSpPr>
          <p:cNvPr id="20" name="Text 16"/>
          <p:cNvSpPr/>
          <p:nvPr/>
        </p:nvSpPr>
        <p:spPr>
          <a:xfrm>
            <a:off x="4645152" y="2377440"/>
            <a:ext cx="3246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600" b="1">
                <a:solidFill>
                  <a:srgbClr val="0F766E"/>
                </a:solidFill>
                <a:ea typeface="Calibri"/>
                <a:cs typeface="Calibri"/>
              </a:rPr>
              <a:t>FMP25 (BCA1)</a:t>
            </a:r>
          </a:p>
        </p:txBody>
      </p:sp>
      <p:sp>
        <p:nvSpPr>
          <p:cNvPr id="21" name="Text 17"/>
          <p:cNvSpPr/>
          <p:nvPr/>
        </p:nvSpPr>
        <p:spPr>
          <a:xfrm>
            <a:off x="4645152" y="3108960"/>
            <a:ext cx="3246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YLR077W</a:t>
            </a:r>
            <a:endParaRPr lang="sl-SI"/>
          </a:p>
        </p:txBody>
      </p:sp>
      <p:sp>
        <p:nvSpPr>
          <p:cNvPr id="22" name="Shape 18"/>
          <p:cNvSpPr/>
          <p:nvPr/>
        </p:nvSpPr>
        <p:spPr>
          <a:xfrm>
            <a:off x="4645152" y="3520440"/>
            <a:ext cx="3246120" cy="1828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SI"/>
          </a:p>
        </p:txBody>
      </p:sp>
      <p:sp>
        <p:nvSpPr>
          <p:cNvPr id="23" name="Text 19"/>
          <p:cNvSpPr/>
          <p:nvPr/>
        </p:nvSpPr>
        <p:spPr>
          <a:xfrm>
            <a:off x="4645152" y="3611880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b="1" kern="0" spc="300">
                <a:solidFill>
                  <a:srgbClr val="F59E0B"/>
                </a:solidFill>
                <a:ea typeface="Calibri"/>
                <a:cs typeface="Calibri"/>
              </a:rPr>
              <a:t>MITOHONDRIJ — KOMPLEKS III</a:t>
            </a:r>
            <a:endParaRPr lang="en-US" sz="1000" kern="0" spc="300">
              <a:solidFill>
                <a:srgbClr val="000000"/>
              </a:solidFill>
              <a:ea typeface="Calibri"/>
              <a:cs typeface="Calibri"/>
            </a:endParaRPr>
          </a:p>
        </p:txBody>
      </p:sp>
      <p:sp>
        <p:nvSpPr>
          <p:cNvPr id="24" name="Text 20"/>
          <p:cNvSpPr/>
          <p:nvPr/>
        </p:nvSpPr>
        <p:spPr>
          <a:xfrm>
            <a:off x="4645152" y="3977640"/>
            <a:ext cx="32461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200" err="1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Sestavni</a:t>
            </a:r>
            <a:r>
              <a:rPr lang="en-US" sz="12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 del </a:t>
            </a:r>
            <a:r>
              <a:rPr lang="en-US" sz="1200" err="1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respiratornega</a:t>
            </a:r>
            <a:r>
              <a:rPr lang="en-US" sz="12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 </a:t>
            </a:r>
            <a:r>
              <a:rPr lang="en-US" sz="1200" err="1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kompleksa</a:t>
            </a:r>
            <a:r>
              <a:rPr lang="en-US" sz="12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 III </a:t>
            </a:r>
            <a:r>
              <a:rPr lang="en-US" sz="1200" err="1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elektronske</a:t>
            </a:r>
            <a:r>
              <a:rPr lang="en-US" sz="12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 </a:t>
            </a:r>
            <a:r>
              <a:rPr lang="en-US" sz="1200" err="1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transportne</a:t>
            </a:r>
            <a:r>
              <a:rPr lang="en-US" sz="12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 </a:t>
            </a:r>
            <a:r>
              <a:rPr lang="en-US" sz="1200" err="1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verige</a:t>
            </a:r>
            <a:r>
              <a:rPr lang="en-US" sz="12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. </a:t>
            </a:r>
            <a:r>
              <a:rPr lang="en-US" sz="1200" err="1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Zaradi</a:t>
            </a:r>
            <a:r>
              <a:rPr lang="en-US" sz="12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200" err="1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respiratornega</a:t>
            </a:r>
            <a:r>
              <a:rPr lang="en-US" sz="12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200" err="1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metabolizma</a:t>
            </a:r>
            <a:r>
              <a:rPr lang="en-US" sz="12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200" err="1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večja</a:t>
            </a:r>
            <a:r>
              <a:rPr lang="en-US" sz="12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200" err="1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potreba</a:t>
            </a:r>
            <a:r>
              <a:rPr lang="en-US" sz="12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 po </a:t>
            </a:r>
            <a:r>
              <a:rPr lang="en-US" sz="1200" err="1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vzdrževanju</a:t>
            </a:r>
            <a:r>
              <a:rPr lang="en-US" sz="12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 in </a:t>
            </a:r>
            <a:r>
              <a:rPr lang="en-US" sz="1200" err="1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obnovi</a:t>
            </a:r>
            <a:r>
              <a:rPr lang="en-US" sz="12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200" err="1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ribosomov</a:t>
            </a:r>
            <a:r>
              <a:rPr lang="en-US" sz="12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.</a:t>
            </a:r>
            <a:endParaRPr lang="en-US" sz="1200">
              <a:solidFill>
                <a:srgbClr val="1E293B"/>
              </a:solidFill>
              <a:ea typeface="Calibri"/>
              <a:cs typeface="Calibri"/>
            </a:endParaRPr>
          </a:p>
        </p:txBody>
      </p:sp>
      <p:sp>
        <p:nvSpPr>
          <p:cNvPr id="25" name="Shape 21"/>
          <p:cNvSpPr/>
          <p:nvPr/>
        </p:nvSpPr>
        <p:spPr>
          <a:xfrm>
            <a:off x="4645152" y="5532120"/>
            <a:ext cx="3246120" cy="411480"/>
          </a:xfrm>
          <a:prstGeom prst="rect">
            <a:avLst/>
          </a:prstGeom>
          <a:solidFill>
            <a:srgbClr val="FEF9EE"/>
          </a:solidFill>
          <a:ln w="12700">
            <a:solidFill>
              <a:srgbClr val="FEF9EE"/>
            </a:solidFill>
            <a:prstDash val="solid"/>
          </a:ln>
        </p:spPr>
        <p:txBody>
          <a:bodyPr/>
          <a:lstStyle/>
          <a:p>
            <a:endParaRPr lang="en-SI"/>
          </a:p>
        </p:txBody>
      </p:sp>
      <p:sp>
        <p:nvSpPr>
          <p:cNvPr id="26" name="Text 22"/>
          <p:cNvSpPr/>
          <p:nvPr/>
        </p:nvSpPr>
        <p:spPr>
          <a:xfrm>
            <a:off x="4645152" y="5532120"/>
            <a:ext cx="3246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100" b="1" i="1" err="1">
                <a:solidFill>
                  <a:srgbClr val="0F766E"/>
                </a:solidFill>
                <a:latin typeface="Calibri"/>
                <a:ea typeface="Calibri"/>
                <a:cs typeface="Calibri"/>
              </a:rPr>
              <a:t>Respiratorna</a:t>
            </a:r>
            <a:r>
              <a:rPr lang="en-US" sz="1100" b="1" i="1">
                <a:solidFill>
                  <a:srgbClr val="0F766E"/>
                </a:solidFill>
                <a:latin typeface="Calibri"/>
                <a:ea typeface="Calibri"/>
                <a:cs typeface="Calibri"/>
              </a:rPr>
              <a:t> </a:t>
            </a:r>
            <a:r>
              <a:rPr lang="en-US" sz="1100" b="1" i="1" err="1">
                <a:solidFill>
                  <a:srgbClr val="0F766E"/>
                </a:solidFill>
                <a:latin typeface="Calibri"/>
                <a:ea typeface="Calibri"/>
                <a:cs typeface="Calibri"/>
              </a:rPr>
              <a:t>obremenitev</a:t>
            </a:r>
            <a:endParaRPr lang="en-US" sz="1100" err="1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7" name="Shape 23"/>
          <p:cNvSpPr/>
          <p:nvPr/>
        </p:nvSpPr>
        <p:spPr>
          <a:xfrm>
            <a:off x="8284464" y="1691640"/>
            <a:ext cx="3703320" cy="4434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270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SI"/>
          </a:p>
        </p:txBody>
      </p:sp>
      <p:sp>
        <p:nvSpPr>
          <p:cNvPr id="28" name="Shape 24"/>
          <p:cNvSpPr/>
          <p:nvPr/>
        </p:nvSpPr>
        <p:spPr>
          <a:xfrm>
            <a:off x="8284464" y="1691640"/>
            <a:ext cx="3703320" cy="54864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en-SI"/>
          </a:p>
        </p:txBody>
      </p:sp>
      <p:pic>
        <p:nvPicPr>
          <p:cNvPr id="29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13064" y="1783080"/>
            <a:ext cx="365760" cy="365760"/>
          </a:xfrm>
          <a:prstGeom prst="rect">
            <a:avLst/>
          </a:prstGeom>
        </p:spPr>
      </p:pic>
      <p:sp>
        <p:nvSpPr>
          <p:cNvPr id="30" name="Text 25"/>
          <p:cNvSpPr/>
          <p:nvPr/>
        </p:nvSpPr>
        <p:spPr>
          <a:xfrm>
            <a:off x="9015984" y="1691640"/>
            <a:ext cx="2788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POVIŠANO IZRAŽANJE</a:t>
            </a:r>
            <a:endParaRPr lang="en-US" sz="1000"/>
          </a:p>
        </p:txBody>
      </p:sp>
      <p:sp>
        <p:nvSpPr>
          <p:cNvPr id="31" name="Text 26"/>
          <p:cNvSpPr/>
          <p:nvPr/>
        </p:nvSpPr>
        <p:spPr>
          <a:xfrm>
            <a:off x="8513064" y="2377440"/>
            <a:ext cx="3246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>
                <a:solidFill>
                  <a:srgbClr val="0F766E"/>
                </a:solidFill>
                <a:ea typeface="Calibri"/>
                <a:cs typeface="Calibri"/>
              </a:rPr>
              <a:t>SME1</a:t>
            </a:r>
          </a:p>
        </p:txBody>
      </p:sp>
      <p:sp>
        <p:nvSpPr>
          <p:cNvPr id="32" name="Text 27"/>
          <p:cNvSpPr/>
          <p:nvPr/>
        </p:nvSpPr>
        <p:spPr>
          <a:xfrm>
            <a:off x="8513064" y="3108960"/>
            <a:ext cx="3246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YOR159C</a:t>
            </a:r>
            <a:endParaRPr lang="sl-SI"/>
          </a:p>
        </p:txBody>
      </p:sp>
      <p:sp>
        <p:nvSpPr>
          <p:cNvPr id="33" name="Shape 28"/>
          <p:cNvSpPr/>
          <p:nvPr/>
        </p:nvSpPr>
        <p:spPr>
          <a:xfrm>
            <a:off x="8513064" y="3520440"/>
            <a:ext cx="3246120" cy="1828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SI"/>
          </a:p>
        </p:txBody>
      </p:sp>
      <p:sp>
        <p:nvSpPr>
          <p:cNvPr id="34" name="Text 29"/>
          <p:cNvSpPr/>
          <p:nvPr/>
        </p:nvSpPr>
        <p:spPr>
          <a:xfrm>
            <a:off x="8513064" y="3611880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b="1" kern="0" spc="300">
                <a:solidFill>
                  <a:srgbClr val="F59E0B"/>
                </a:solidFill>
                <a:latin typeface="Calibri"/>
                <a:ea typeface="Calibri"/>
                <a:cs typeface="Calibri"/>
              </a:rPr>
              <a:t>IZREZOVALNO TELESCE</a:t>
            </a:r>
            <a:endParaRPr lang="en-US" sz="1000" kern="0" spc="30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35" name="Text 30"/>
          <p:cNvSpPr/>
          <p:nvPr/>
        </p:nvSpPr>
        <p:spPr>
          <a:xfrm>
            <a:off x="8513064" y="3965640"/>
            <a:ext cx="32461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200" err="1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Sestavni</a:t>
            </a:r>
            <a:r>
              <a:rPr lang="en-US" sz="12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 del </a:t>
            </a:r>
            <a:r>
              <a:rPr lang="en-US" sz="1200" err="1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izrezovalnega</a:t>
            </a:r>
            <a:r>
              <a:rPr lang="en-US" sz="12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 </a:t>
            </a:r>
            <a:r>
              <a:rPr lang="en-US" sz="1200" err="1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telesca</a:t>
            </a:r>
            <a:r>
              <a:rPr lang="en-US" sz="12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 - </a:t>
            </a:r>
            <a:r>
              <a:rPr lang="en-US" sz="1200" err="1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procesiranje</a:t>
            </a:r>
            <a:r>
              <a:rPr lang="en-US" sz="12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 pre-mRNA. </a:t>
            </a:r>
            <a:r>
              <a:rPr lang="en-US" sz="1200" err="1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Povišano</a:t>
            </a:r>
            <a:r>
              <a:rPr lang="en-US" sz="12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 </a:t>
            </a:r>
            <a:r>
              <a:rPr lang="en-US" sz="1200" err="1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izražanje</a:t>
            </a:r>
            <a:r>
              <a:rPr lang="en-US" sz="12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 </a:t>
            </a:r>
            <a:r>
              <a:rPr lang="en-US" sz="1200" err="1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morda</a:t>
            </a:r>
            <a:r>
              <a:rPr lang="en-US" sz="12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 </a:t>
            </a:r>
            <a:r>
              <a:rPr lang="en-US" sz="1200" err="1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odraža</a:t>
            </a:r>
            <a:r>
              <a:rPr lang="en-US" sz="12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 </a:t>
            </a:r>
            <a:r>
              <a:rPr lang="en-US" sz="1200" err="1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reorganizacijo</a:t>
            </a:r>
            <a:r>
              <a:rPr lang="en-US" sz="12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200" err="1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izrezovalnga</a:t>
            </a:r>
            <a:r>
              <a:rPr lang="en-US" sz="12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 </a:t>
            </a:r>
            <a:r>
              <a:rPr lang="en-US" sz="1200" err="1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telesca</a:t>
            </a:r>
            <a:r>
              <a:rPr lang="en-US" sz="12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 za </a:t>
            </a:r>
            <a:r>
              <a:rPr lang="en-US" sz="1200" err="1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selektivno</a:t>
            </a:r>
            <a:r>
              <a:rPr lang="en-US" sz="12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 </a:t>
            </a:r>
            <a:r>
              <a:rPr lang="en-US" sz="1200" err="1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procesiranjestresnih</a:t>
            </a:r>
            <a:r>
              <a:rPr lang="en-US" sz="12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 </a:t>
            </a:r>
            <a:r>
              <a:rPr lang="en-US" sz="1200" err="1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transkriptov</a:t>
            </a:r>
            <a:r>
              <a:rPr lang="en-US" sz="12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.</a:t>
            </a:r>
          </a:p>
          <a:p>
            <a:endParaRPr lang="en-US" sz="1200">
              <a:solidFill>
                <a:srgbClr val="1E293B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36" name="Shape 31"/>
          <p:cNvSpPr/>
          <p:nvPr/>
        </p:nvSpPr>
        <p:spPr>
          <a:xfrm>
            <a:off x="8513064" y="5532120"/>
            <a:ext cx="3246120" cy="411480"/>
          </a:xfrm>
          <a:prstGeom prst="rect">
            <a:avLst/>
          </a:prstGeom>
          <a:solidFill>
            <a:srgbClr val="FEF9EE"/>
          </a:solidFill>
          <a:ln w="12700">
            <a:solidFill>
              <a:srgbClr val="FEF9EE"/>
            </a:solidFill>
            <a:prstDash val="solid"/>
          </a:ln>
        </p:spPr>
        <p:txBody>
          <a:bodyPr/>
          <a:lstStyle/>
          <a:p>
            <a:endParaRPr lang="en-SI"/>
          </a:p>
        </p:txBody>
      </p:sp>
      <p:sp>
        <p:nvSpPr>
          <p:cNvPr id="37" name="Text 32"/>
          <p:cNvSpPr/>
          <p:nvPr/>
        </p:nvSpPr>
        <p:spPr>
          <a:xfrm>
            <a:off x="8513064" y="5532120"/>
            <a:ext cx="3246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100" b="1" i="1">
                <a:solidFill>
                  <a:srgbClr val="0F766E"/>
                </a:solidFill>
                <a:latin typeface="Calibri"/>
                <a:ea typeface="Calibri"/>
                <a:cs typeface="Calibri"/>
              </a:rPr>
              <a:t>mRNA </a:t>
            </a:r>
            <a:r>
              <a:rPr lang="en-US" sz="1100" b="1" i="1" err="1">
                <a:solidFill>
                  <a:srgbClr val="0F766E"/>
                </a:solidFill>
                <a:latin typeface="Calibri"/>
                <a:ea typeface="Calibri"/>
                <a:cs typeface="Calibri"/>
              </a:rPr>
              <a:t>procesiranje</a:t>
            </a:r>
            <a:endParaRPr lang="en-US" sz="1100" err="1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38" name="Shape 33"/>
          <p:cNvSpPr/>
          <p:nvPr/>
        </p:nvSpPr>
        <p:spPr>
          <a:xfrm>
            <a:off x="0" y="6537960"/>
            <a:ext cx="12161520" cy="320040"/>
          </a:xfrm>
          <a:prstGeom prst="rect">
            <a:avLst/>
          </a:prstGeom>
          <a:solidFill>
            <a:srgbClr val="FEF9EE"/>
          </a:solidFill>
          <a:ln w="12700">
            <a:solidFill>
              <a:srgbClr val="FEF9EE"/>
            </a:solidFill>
            <a:prstDash val="solid"/>
          </a:ln>
        </p:spPr>
        <p:txBody>
          <a:bodyPr/>
          <a:lstStyle/>
          <a:p>
            <a:endParaRPr lang="en-SI"/>
          </a:p>
        </p:txBody>
      </p:sp>
      <p:sp>
        <p:nvSpPr>
          <p:cNvPr id="39" name="Shape 34"/>
          <p:cNvSpPr/>
          <p:nvPr/>
        </p:nvSpPr>
        <p:spPr>
          <a:xfrm>
            <a:off x="0" y="6537960"/>
            <a:ext cx="548640" cy="32004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en-SI"/>
          </a:p>
        </p:txBody>
      </p:sp>
      <p:sp>
        <p:nvSpPr>
          <p:cNvPr id="40" name="Text 35"/>
          <p:cNvSpPr/>
          <p:nvPr/>
        </p:nvSpPr>
        <p:spPr>
          <a:xfrm>
            <a:off x="0" y="653796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200"/>
          </a:p>
        </p:txBody>
      </p:sp>
      <p:sp>
        <p:nvSpPr>
          <p:cNvPr id="41" name="Text 36"/>
          <p:cNvSpPr/>
          <p:nvPr/>
        </p:nvSpPr>
        <p:spPr>
          <a:xfrm>
            <a:off x="640080" y="65379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Funkcijska genomika - Seminar - Aljaž Kos</a:t>
            </a:r>
            <a:r>
              <a:rPr lang="sl-SI" sz="1000">
                <a:solidFill>
                  <a:schemeClr val="bg2">
                    <a:lumMod val="5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, Simon Kristl</a:t>
            </a:r>
            <a:endParaRPr lang="en-US" sz="1000"/>
          </a:p>
        </p:txBody>
      </p:sp>
      <p:sp>
        <p:nvSpPr>
          <p:cNvPr id="42" name="Text 37"/>
          <p:cNvSpPr/>
          <p:nvPr/>
        </p:nvSpPr>
        <p:spPr>
          <a:xfrm>
            <a:off x="7132320" y="653796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i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S. cerevisiae | Univerzalni stresni markerji</a:t>
            </a:r>
            <a:endParaRPr lang="en-US" sz="10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00" b="1" kern="0" spc="400">
                <a:solidFill>
                  <a:srgbClr val="0F766E"/>
                </a:solidFill>
                <a:latin typeface="Calibri"/>
                <a:ea typeface="Calibri"/>
                <a:cs typeface="Calibri"/>
              </a:rPr>
              <a:t>REZULTATI | ZNIŽANA TRANSKRIPCIJA</a:t>
            </a:r>
            <a:endParaRPr lang="en-US" sz="1100"/>
          </a:p>
        </p:txBody>
      </p:sp>
      <p:sp>
        <p:nvSpPr>
          <p:cNvPr id="3" name="Text 1"/>
          <p:cNvSpPr/>
          <p:nvPr/>
        </p:nvSpPr>
        <p:spPr>
          <a:xfrm>
            <a:off x="548640" y="54864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 s konsistentno znižano ekspresijo</a:t>
            </a:r>
            <a:endParaRPr lang="en-US" sz="3000"/>
          </a:p>
        </p:txBody>
      </p:sp>
      <p:sp>
        <p:nvSpPr>
          <p:cNvPr id="4" name="Shape 2"/>
          <p:cNvSpPr/>
          <p:nvPr/>
        </p:nvSpPr>
        <p:spPr>
          <a:xfrm>
            <a:off x="548640" y="1234440"/>
            <a:ext cx="548640" cy="5486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SI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5486400" cy="4434840"/>
          </a:xfrm>
          <a:prstGeom prst="rect">
            <a:avLst/>
          </a:prstGeom>
          <a:solidFill>
            <a:srgbClr val="FEF2F2"/>
          </a:solidFill>
          <a:ln w="12700">
            <a:solidFill>
              <a:srgbClr val="FECACA"/>
            </a:solidFill>
            <a:prstDash val="solid"/>
          </a:ln>
          <a:effectLst>
            <a:outerShdw blurRad="1270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SI"/>
          </a:p>
        </p:txBody>
      </p:sp>
      <p:sp>
        <p:nvSpPr>
          <p:cNvPr id="6" name="Shape 4"/>
          <p:cNvSpPr/>
          <p:nvPr/>
        </p:nvSpPr>
        <p:spPr>
          <a:xfrm>
            <a:off x="548640" y="1691640"/>
            <a:ext cx="5486400" cy="54864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SI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1783080"/>
            <a:ext cx="365760" cy="36576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325880" y="169164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ZNIŽANO IZRAŽANJE</a:t>
            </a:r>
            <a:endParaRPr lang="en-US" sz="1100"/>
          </a:p>
        </p:txBody>
      </p:sp>
      <p:sp>
        <p:nvSpPr>
          <p:cNvPr id="9" name="Text 6"/>
          <p:cNvSpPr/>
          <p:nvPr/>
        </p:nvSpPr>
        <p:spPr>
          <a:xfrm>
            <a:off x="914400" y="2468880"/>
            <a:ext cx="4754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0" b="1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DUS3</a:t>
            </a:r>
            <a:endParaRPr lang="en-US" sz="6000"/>
          </a:p>
        </p:txBody>
      </p:sp>
      <p:sp>
        <p:nvSpPr>
          <p:cNvPr id="10" name="Text 7"/>
          <p:cNvSpPr/>
          <p:nvPr/>
        </p:nvSpPr>
        <p:spPr>
          <a:xfrm>
            <a:off x="914400" y="3474720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YLR401C</a:t>
            </a:r>
            <a:endParaRPr lang="en-US" sz="1600"/>
          </a:p>
        </p:txBody>
      </p:sp>
      <p:sp>
        <p:nvSpPr>
          <p:cNvPr id="11" name="Shape 8"/>
          <p:cNvSpPr/>
          <p:nvPr/>
        </p:nvSpPr>
        <p:spPr>
          <a:xfrm>
            <a:off x="914400" y="3977640"/>
            <a:ext cx="4754880" cy="18288"/>
          </a:xfrm>
          <a:prstGeom prst="rect">
            <a:avLst/>
          </a:prstGeom>
          <a:solidFill>
            <a:srgbClr val="FECACA"/>
          </a:solidFill>
          <a:ln w="12700">
            <a:solidFill>
              <a:srgbClr val="FECACA"/>
            </a:solidFill>
            <a:prstDash val="solid"/>
          </a:ln>
        </p:spPr>
        <p:txBody>
          <a:bodyPr/>
          <a:lstStyle/>
          <a:p>
            <a:endParaRPr lang="en-SI"/>
          </a:p>
        </p:txBody>
      </p:sp>
      <p:sp>
        <p:nvSpPr>
          <p:cNvPr id="12" name="Text 9"/>
          <p:cNvSpPr/>
          <p:nvPr/>
        </p:nvSpPr>
        <p:spPr>
          <a:xfrm>
            <a:off x="914400" y="406908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FUNKCIJA</a:t>
            </a:r>
            <a:endParaRPr lang="en-US" sz="1100"/>
          </a:p>
        </p:txBody>
      </p:sp>
      <p:sp>
        <p:nvSpPr>
          <p:cNvPr id="13" name="Text 10"/>
          <p:cNvSpPr/>
          <p:nvPr/>
        </p:nvSpPr>
        <p:spPr>
          <a:xfrm>
            <a:off x="914400" y="4389120"/>
            <a:ext cx="47548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800"/>
              </a:spcAft>
              <a:buNone/>
            </a:pPr>
            <a:r>
              <a:rPr lang="en-US" sz="140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Posttranskripcijska modifikacija tRNA — pretvarja uridine v dihidrouridine v variabilni regiji.</a:t>
            </a:r>
            <a:endParaRPr lang="en-US" sz="1400"/>
          </a:p>
          <a:p>
            <a:pPr marL="0" indent="0">
              <a:buNone/>
            </a:pPr>
            <a:r>
              <a:rPr lang="en-US" sz="140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 modifikacije so ključne za pravilno zvitje, fleksibilnost in stabilnost tRNA — torej za učinkovito translacijo.</a:t>
            </a:r>
            <a:endParaRPr lang="en-US" sz="1400"/>
          </a:p>
        </p:txBody>
      </p:sp>
      <p:sp>
        <p:nvSpPr>
          <p:cNvPr id="14" name="Shape 11"/>
          <p:cNvSpPr/>
          <p:nvPr/>
        </p:nvSpPr>
        <p:spPr>
          <a:xfrm>
            <a:off x="6400800" y="1691640"/>
            <a:ext cx="5212080" cy="4434840"/>
          </a:xfrm>
          <a:prstGeom prst="rect">
            <a:avLst/>
          </a:prstGeom>
          <a:solidFill>
            <a:srgbClr val="0F2E2C"/>
          </a:solidFill>
          <a:ln w="12700">
            <a:solidFill>
              <a:srgbClr val="0F2E2C"/>
            </a:solidFill>
            <a:prstDash val="solid"/>
          </a:ln>
          <a:effectLst>
            <a:outerShdw blurRad="1270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SI"/>
          </a:p>
        </p:txBody>
      </p:sp>
      <p:sp>
        <p:nvSpPr>
          <p:cNvPr id="15" name="Text 12"/>
          <p:cNvSpPr/>
          <p:nvPr/>
        </p:nvSpPr>
        <p:spPr>
          <a:xfrm>
            <a:off x="6675120" y="196596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40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BIOLOŠKI POMEN</a:t>
            </a:r>
            <a:endParaRPr lang="en-US" sz="1200"/>
          </a:p>
        </p:txBody>
      </p:sp>
      <p:sp>
        <p:nvSpPr>
          <p:cNvPr id="16" name="Text 13"/>
          <p:cNvSpPr/>
          <p:nvPr/>
        </p:nvSpPr>
        <p:spPr>
          <a:xfrm>
            <a:off x="6675120" y="2377440"/>
            <a:ext cx="4663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Manjše modifikacije tRNA →</a:t>
            </a:r>
            <a:endParaRPr lang="en-US" sz="2200"/>
          </a:p>
          <a:p>
            <a:pPr marL="0" indent="0">
              <a:buNone/>
            </a:pPr>
            <a:r>
              <a:rPr lang="en-US" sz="22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upočasnjena translacija</a:t>
            </a:r>
            <a:endParaRPr lang="en-US" sz="2200"/>
          </a:p>
        </p:txBody>
      </p:sp>
      <p:sp>
        <p:nvSpPr>
          <p:cNvPr id="17" name="Text 14"/>
          <p:cNvSpPr/>
          <p:nvPr/>
        </p:nvSpPr>
        <p:spPr>
          <a:xfrm>
            <a:off x="6675120" y="3566160"/>
            <a:ext cx="466344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1000"/>
              </a:spcAft>
              <a:buNone/>
            </a:pPr>
            <a:r>
              <a:rPr lang="en-US" sz="1400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Med </a:t>
            </a:r>
            <a:r>
              <a:rPr lang="en-US" sz="1400" err="1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stresom</a:t>
            </a:r>
            <a:r>
              <a:rPr lang="en-US" sz="1400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400" err="1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celica</a:t>
            </a:r>
            <a:r>
              <a:rPr lang="en-US" sz="1400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400" err="1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zmanjša</a:t>
            </a:r>
            <a:r>
              <a:rPr lang="en-US" sz="1400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400" err="1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globalno</a:t>
            </a:r>
            <a:r>
              <a:rPr lang="en-US" sz="1400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 raven </a:t>
            </a:r>
            <a:r>
              <a:rPr lang="en-US" sz="1400" err="1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sinteze</a:t>
            </a:r>
            <a:r>
              <a:rPr lang="en-US" sz="1400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400" err="1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proteinov</a:t>
            </a:r>
            <a:r>
              <a:rPr lang="en-US" sz="1400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.</a:t>
            </a:r>
            <a:endParaRPr lang="en-US" sz="1400">
              <a:latin typeface="Calibri"/>
              <a:ea typeface="Calibri"/>
              <a:cs typeface="Calibri"/>
            </a:endParaRPr>
          </a:p>
          <a:p>
            <a:pPr>
              <a:spcAft>
                <a:spcPts val="1000"/>
              </a:spcAft>
            </a:pPr>
            <a:r>
              <a:rPr lang="en-US" sz="1400" err="1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Energetsko</a:t>
            </a:r>
            <a:r>
              <a:rPr lang="en-US" sz="1400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400" err="1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potratni</a:t>
            </a:r>
            <a:r>
              <a:rPr lang="en-US" sz="1400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400" err="1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procesi</a:t>
            </a:r>
            <a:r>
              <a:rPr lang="en-US" sz="1400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 (</a:t>
            </a:r>
            <a:r>
              <a:rPr lang="en-US" sz="1400" err="1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translacija</a:t>
            </a:r>
            <a:r>
              <a:rPr lang="en-US" sz="1400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, </a:t>
            </a:r>
            <a:r>
              <a:rPr lang="en-US" sz="1400" err="1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biosinteza</a:t>
            </a:r>
            <a:r>
              <a:rPr lang="en-US" sz="1400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400" err="1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ribosomov</a:t>
            </a:r>
            <a:r>
              <a:rPr lang="en-US" sz="1400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) se </a:t>
            </a:r>
            <a:r>
              <a:rPr lang="en-US" sz="1400" err="1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upočasnijo</a:t>
            </a:r>
            <a:r>
              <a:rPr lang="en-US" sz="1400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 — </a:t>
            </a:r>
            <a:r>
              <a:rPr lang="en-US" sz="1400" err="1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viri</a:t>
            </a:r>
            <a:r>
              <a:rPr lang="en-US" sz="1400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 se </a:t>
            </a:r>
            <a:r>
              <a:rPr lang="en-US" sz="1400" err="1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preusmerijo</a:t>
            </a:r>
            <a:r>
              <a:rPr lang="en-US" sz="1400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 v </a:t>
            </a:r>
            <a:r>
              <a:rPr lang="en-US" sz="1400" err="1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preživetje</a:t>
            </a:r>
            <a:r>
              <a:rPr lang="en-US" sz="1400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.</a:t>
            </a:r>
            <a:endParaRPr lang="en-US" sz="1400">
              <a:latin typeface="Calibri"/>
              <a:ea typeface="Calibri"/>
              <a:cs typeface="Calibri"/>
            </a:endParaRPr>
          </a:p>
          <a:p>
            <a:r>
              <a:rPr lang="en-US" sz="1400" i="1" err="1">
                <a:solidFill>
                  <a:srgbClr val="5EEAD4"/>
                </a:solidFill>
                <a:latin typeface="Calibri"/>
                <a:ea typeface="Calibri"/>
                <a:cs typeface="Calibri"/>
              </a:rPr>
              <a:t>Sklada</a:t>
            </a:r>
            <a:r>
              <a:rPr lang="en-US" sz="1400" i="1">
                <a:solidFill>
                  <a:srgbClr val="5EEAD4"/>
                </a:solidFill>
                <a:latin typeface="Calibri"/>
                <a:ea typeface="Calibri"/>
                <a:cs typeface="Calibri"/>
              </a:rPr>
              <a:t> se s </a:t>
            </a:r>
            <a:r>
              <a:rPr lang="en-US" sz="1400" i="1" err="1">
                <a:solidFill>
                  <a:srgbClr val="5EEAD4"/>
                </a:solidFill>
                <a:latin typeface="Calibri"/>
                <a:ea typeface="Calibri"/>
                <a:cs typeface="Calibri"/>
              </a:rPr>
              <a:t>prej</a:t>
            </a:r>
            <a:r>
              <a:rPr lang="en-US" sz="1400" i="1">
                <a:solidFill>
                  <a:srgbClr val="5EEAD4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400" i="1" err="1">
                <a:solidFill>
                  <a:srgbClr val="5EEAD4"/>
                </a:solidFill>
                <a:latin typeface="Calibri"/>
                <a:ea typeface="Calibri"/>
                <a:cs typeface="Calibri"/>
              </a:rPr>
              <a:t>opaženoim</a:t>
            </a:r>
            <a:r>
              <a:rPr lang="en-US" sz="1400" i="1">
                <a:solidFill>
                  <a:srgbClr val="5EEAD4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400" i="1" err="1">
                <a:solidFill>
                  <a:srgbClr val="5EEAD4"/>
                </a:solidFill>
                <a:latin typeface="Calibri"/>
                <a:ea typeface="Calibri"/>
                <a:cs typeface="Calibri"/>
              </a:rPr>
              <a:t>splošnim</a:t>
            </a:r>
            <a:r>
              <a:rPr lang="en-US" sz="1400" i="1">
                <a:solidFill>
                  <a:srgbClr val="5EEAD4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400" i="1" err="1">
                <a:solidFill>
                  <a:srgbClr val="5EEAD4"/>
                </a:solidFill>
                <a:latin typeface="Calibri"/>
                <a:ea typeface="Calibri"/>
                <a:cs typeface="Calibri"/>
              </a:rPr>
              <a:t>upadcem</a:t>
            </a:r>
            <a:r>
              <a:rPr lang="en-US" sz="1400" i="1">
                <a:solidFill>
                  <a:srgbClr val="5EEAD4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400" i="1" err="1">
                <a:solidFill>
                  <a:srgbClr val="5EEAD4"/>
                </a:solidFill>
                <a:latin typeface="Calibri"/>
                <a:ea typeface="Calibri"/>
                <a:cs typeface="Calibri"/>
              </a:rPr>
              <a:t>proteinske</a:t>
            </a:r>
            <a:r>
              <a:rPr lang="en-US" sz="1400" i="1">
                <a:solidFill>
                  <a:srgbClr val="5EEAD4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400" i="1" err="1">
                <a:solidFill>
                  <a:srgbClr val="5EEAD4"/>
                </a:solidFill>
                <a:latin typeface="Calibri"/>
                <a:ea typeface="Calibri"/>
                <a:cs typeface="Calibri"/>
              </a:rPr>
              <a:t>sinteze</a:t>
            </a:r>
            <a:r>
              <a:rPr lang="en-US" sz="1400" i="1">
                <a:solidFill>
                  <a:srgbClr val="5EEAD4"/>
                </a:solidFill>
                <a:latin typeface="Calibri"/>
                <a:ea typeface="Calibri"/>
                <a:cs typeface="Calibri"/>
              </a:rPr>
              <a:t>.</a:t>
            </a:r>
          </a:p>
        </p:txBody>
      </p:sp>
      <p:sp>
        <p:nvSpPr>
          <p:cNvPr id="18" name="Shape 15"/>
          <p:cNvSpPr/>
          <p:nvPr/>
        </p:nvSpPr>
        <p:spPr>
          <a:xfrm>
            <a:off x="0" y="6537960"/>
            <a:ext cx="12161520" cy="320040"/>
          </a:xfrm>
          <a:prstGeom prst="rect">
            <a:avLst/>
          </a:prstGeom>
          <a:solidFill>
            <a:srgbClr val="FEF9EE"/>
          </a:solidFill>
          <a:ln w="12700">
            <a:solidFill>
              <a:srgbClr val="FEF9EE"/>
            </a:solidFill>
            <a:prstDash val="solid"/>
          </a:ln>
        </p:spPr>
        <p:txBody>
          <a:bodyPr/>
          <a:lstStyle/>
          <a:p>
            <a:endParaRPr lang="en-SI"/>
          </a:p>
        </p:txBody>
      </p:sp>
      <p:sp>
        <p:nvSpPr>
          <p:cNvPr id="19" name="Shape 16"/>
          <p:cNvSpPr/>
          <p:nvPr/>
        </p:nvSpPr>
        <p:spPr>
          <a:xfrm>
            <a:off x="0" y="6537960"/>
            <a:ext cx="548640" cy="32004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en-SI"/>
          </a:p>
        </p:txBody>
      </p:sp>
      <p:sp>
        <p:nvSpPr>
          <p:cNvPr id="20" name="Text 17"/>
          <p:cNvSpPr/>
          <p:nvPr/>
        </p:nvSpPr>
        <p:spPr>
          <a:xfrm>
            <a:off x="0" y="653796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200"/>
          </a:p>
        </p:txBody>
      </p:sp>
      <p:sp>
        <p:nvSpPr>
          <p:cNvPr id="21" name="Text 18"/>
          <p:cNvSpPr/>
          <p:nvPr/>
        </p:nvSpPr>
        <p:spPr>
          <a:xfrm>
            <a:off x="640080" y="65379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Funkcijska genomika - Seminar - Aljaž Kos</a:t>
            </a:r>
            <a:r>
              <a:rPr lang="sl-SI" sz="1000">
                <a:solidFill>
                  <a:schemeClr val="bg2">
                    <a:lumMod val="5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, Simon Kristl</a:t>
            </a:r>
            <a:endParaRPr lang="en-US" sz="1000"/>
          </a:p>
        </p:txBody>
      </p:sp>
      <p:sp>
        <p:nvSpPr>
          <p:cNvPr id="22" name="Text 19"/>
          <p:cNvSpPr/>
          <p:nvPr/>
        </p:nvSpPr>
        <p:spPr>
          <a:xfrm>
            <a:off x="7132320" y="653796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i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S. cerevisiae | Univerzalni stresni markerji</a:t>
            </a:r>
            <a:endParaRPr lang="en-US" sz="10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EF9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>
                <a:solidFill>
                  <a:srgbClr val="0F766E"/>
                </a:solidFill>
                <a:latin typeface="Calibri"/>
                <a:ea typeface="Calibri"/>
                <a:cs typeface="Calibri"/>
              </a:rPr>
              <a:t>REZULTATI</a:t>
            </a:r>
            <a:endParaRPr lang="en-US" sz="1100"/>
          </a:p>
        </p:txBody>
      </p:sp>
      <p:sp>
        <p:nvSpPr>
          <p:cNvPr id="3" name="Text 1"/>
          <p:cNvSpPr/>
          <p:nvPr/>
        </p:nvSpPr>
        <p:spPr>
          <a:xfrm>
            <a:off x="548640" y="54864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Mreža interakcij — GeneMANIA</a:t>
            </a:r>
            <a:endParaRPr lang="en-US" sz="3000"/>
          </a:p>
        </p:txBody>
      </p:sp>
      <p:sp>
        <p:nvSpPr>
          <p:cNvPr id="4" name="Shape 2"/>
          <p:cNvSpPr/>
          <p:nvPr/>
        </p:nvSpPr>
        <p:spPr>
          <a:xfrm>
            <a:off x="548640" y="1234440"/>
            <a:ext cx="548640" cy="5486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SI"/>
          </a:p>
        </p:txBody>
      </p:sp>
      <p:sp>
        <p:nvSpPr>
          <p:cNvPr id="5" name="Text 3"/>
          <p:cNvSpPr/>
          <p:nvPr/>
        </p:nvSpPr>
        <p:spPr>
          <a:xfrm>
            <a:off x="548640" y="1508760"/>
            <a:ext cx="11064240" cy="4572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r>
              <a:rPr lang="en-US" sz="1400" i="1">
                <a:solidFill>
                  <a:srgbClr val="1E293B"/>
                </a:solidFill>
                <a:ea typeface="+mn-lt"/>
                <a:cs typeface="+mn-lt"/>
              </a:rPr>
              <a:t>Kako so </a:t>
            </a:r>
            <a:r>
              <a:rPr lang="en-US" sz="1400" i="1" err="1">
                <a:solidFill>
                  <a:srgbClr val="1E293B"/>
                </a:solidFill>
                <a:ea typeface="+mn-lt"/>
                <a:cs typeface="+mn-lt"/>
              </a:rPr>
              <a:t>diferencialno</a:t>
            </a:r>
            <a:r>
              <a:rPr lang="en-US" sz="1400" i="1">
                <a:solidFill>
                  <a:srgbClr val="1E293B"/>
                </a:solidFill>
                <a:ea typeface="+mn-lt"/>
                <a:cs typeface="+mn-lt"/>
              </a:rPr>
              <a:t> </a:t>
            </a:r>
            <a:r>
              <a:rPr lang="en-US" sz="1400" i="1" err="1">
                <a:solidFill>
                  <a:srgbClr val="1E293B"/>
                </a:solidFill>
                <a:ea typeface="+mn-lt"/>
                <a:cs typeface="+mn-lt"/>
              </a:rPr>
              <a:t>izraženi</a:t>
            </a:r>
            <a:r>
              <a:rPr lang="en-US" sz="1400" i="1">
                <a:solidFill>
                  <a:srgbClr val="1E293B"/>
                </a:solidFill>
                <a:ea typeface="+mn-lt"/>
                <a:cs typeface="+mn-lt"/>
              </a:rPr>
              <a:t> </a:t>
            </a:r>
            <a:r>
              <a:rPr lang="en-US" sz="1400" i="1" err="1">
                <a:solidFill>
                  <a:srgbClr val="1E293B"/>
                </a:solidFill>
                <a:ea typeface="+mn-lt"/>
                <a:cs typeface="+mn-lt"/>
              </a:rPr>
              <a:t>geni</a:t>
            </a:r>
            <a:r>
              <a:rPr lang="en-US" sz="1400" i="1">
                <a:solidFill>
                  <a:srgbClr val="1E293B"/>
                </a:solidFill>
                <a:ea typeface="+mn-lt"/>
                <a:cs typeface="+mn-lt"/>
              </a:rPr>
              <a:t> </a:t>
            </a:r>
            <a:r>
              <a:rPr lang="en-US" sz="1400" i="1" err="1">
                <a:solidFill>
                  <a:srgbClr val="1E293B"/>
                </a:solidFill>
                <a:ea typeface="+mn-lt"/>
                <a:cs typeface="+mn-lt"/>
              </a:rPr>
              <a:t>funkcionalno</a:t>
            </a:r>
            <a:r>
              <a:rPr lang="en-US" sz="1400" i="1">
                <a:solidFill>
                  <a:srgbClr val="1E293B"/>
                </a:solidFill>
                <a:ea typeface="+mn-lt"/>
                <a:cs typeface="+mn-lt"/>
              </a:rPr>
              <a:t> </a:t>
            </a:r>
            <a:r>
              <a:rPr lang="en-US" sz="1400" i="1" err="1">
                <a:solidFill>
                  <a:srgbClr val="1E293B"/>
                </a:solidFill>
                <a:ea typeface="+mn-lt"/>
                <a:cs typeface="+mn-lt"/>
              </a:rPr>
              <a:t>povezani</a:t>
            </a:r>
            <a:r>
              <a:rPr lang="en-US" sz="1400" i="1">
                <a:solidFill>
                  <a:srgbClr val="1E293B"/>
                </a:solidFill>
                <a:ea typeface="+mn-lt"/>
                <a:cs typeface="+mn-lt"/>
              </a:rPr>
              <a:t>? </a:t>
            </a:r>
            <a:endParaRPr lang="en-US" sz="1400">
              <a:solidFill>
                <a:srgbClr val="1E293B"/>
              </a:solidFill>
              <a:ea typeface="Calibri"/>
              <a:cs typeface="Calibri"/>
            </a:endParaRPr>
          </a:p>
        </p:txBody>
      </p:sp>
      <p:sp>
        <p:nvSpPr>
          <p:cNvPr id="6" name="Shape 4"/>
          <p:cNvSpPr/>
          <p:nvPr/>
        </p:nvSpPr>
        <p:spPr>
          <a:xfrm>
            <a:off x="548640" y="2148840"/>
            <a:ext cx="3703320" cy="3520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270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SI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2423160"/>
            <a:ext cx="457200" cy="4572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417320" y="2423160"/>
            <a:ext cx="2697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b="1" err="1">
                <a:solidFill>
                  <a:srgbClr val="0F766E"/>
                </a:solidFill>
                <a:ea typeface="Calibri"/>
                <a:cs typeface="Calibri"/>
              </a:rPr>
              <a:t>Izrezovalno</a:t>
            </a:r>
            <a:r>
              <a:rPr lang="en-US" sz="1600" b="1">
                <a:solidFill>
                  <a:srgbClr val="0F766E"/>
                </a:solidFill>
                <a:ea typeface="Calibri"/>
                <a:cs typeface="Calibri"/>
              </a:rPr>
              <a:t> </a:t>
            </a:r>
            <a:r>
              <a:rPr lang="en-US" sz="1600" b="1" err="1">
                <a:solidFill>
                  <a:srgbClr val="0F766E"/>
                </a:solidFill>
                <a:ea typeface="Calibri"/>
                <a:cs typeface="Calibri"/>
              </a:rPr>
              <a:t>telesce</a:t>
            </a:r>
          </a:p>
        </p:txBody>
      </p:sp>
      <p:sp>
        <p:nvSpPr>
          <p:cNvPr id="9" name="Shape 6"/>
          <p:cNvSpPr/>
          <p:nvPr/>
        </p:nvSpPr>
        <p:spPr>
          <a:xfrm>
            <a:off x="822960" y="3108960"/>
            <a:ext cx="3154680" cy="548640"/>
          </a:xfrm>
          <a:prstGeom prst="rect">
            <a:avLst/>
          </a:prstGeom>
          <a:solidFill>
            <a:srgbClr val="FEF9EE"/>
          </a:solidFill>
          <a:ln w="12700">
            <a:solidFill>
              <a:srgbClr val="FEF9EE"/>
            </a:solidFill>
            <a:prstDash val="solid"/>
          </a:ln>
        </p:spPr>
        <p:txBody>
          <a:bodyPr/>
          <a:lstStyle/>
          <a:p>
            <a:endParaRPr lang="en-SI"/>
          </a:p>
        </p:txBody>
      </p:sp>
      <p:sp>
        <p:nvSpPr>
          <p:cNvPr id="10" name="Text 7"/>
          <p:cNvSpPr/>
          <p:nvPr/>
        </p:nvSpPr>
        <p:spPr>
          <a:xfrm>
            <a:off x="822960" y="3108960"/>
            <a:ext cx="3154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i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SME1</a:t>
            </a:r>
            <a:endParaRPr lang="en-US" sz="1400"/>
          </a:p>
        </p:txBody>
      </p:sp>
      <p:sp>
        <p:nvSpPr>
          <p:cNvPr id="11" name="Text 8"/>
          <p:cNvSpPr/>
          <p:nvPr/>
        </p:nvSpPr>
        <p:spPr>
          <a:xfrm>
            <a:off x="822960" y="3703320"/>
            <a:ext cx="3154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i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SMX2 · SMX3 · SMD1 · SMD2 · SMD3 · SMB1</a:t>
            </a:r>
            <a:endParaRPr lang="en-US" sz="1100"/>
          </a:p>
        </p:txBody>
      </p:sp>
      <p:sp>
        <p:nvSpPr>
          <p:cNvPr id="12" name="Text 9"/>
          <p:cNvSpPr/>
          <p:nvPr/>
        </p:nvSpPr>
        <p:spPr>
          <a:xfrm>
            <a:off x="822960" y="4343400"/>
            <a:ext cx="31546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2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Velika </a:t>
            </a:r>
            <a:r>
              <a:rPr lang="en-US" sz="1200" err="1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gruča</a:t>
            </a:r>
            <a:r>
              <a:rPr lang="en-US" sz="12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200" err="1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komponent</a:t>
            </a:r>
            <a:r>
              <a:rPr lang="en-US" sz="12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200" err="1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spliceosoma</a:t>
            </a:r>
            <a:r>
              <a:rPr lang="en-US" sz="12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. Potrjuje GO </a:t>
            </a:r>
            <a:r>
              <a:rPr lang="en-US" sz="1200" err="1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obogatitveno</a:t>
            </a:r>
            <a:r>
              <a:rPr lang="en-US" sz="12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200" err="1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analizo</a:t>
            </a:r>
            <a:r>
              <a:rPr lang="en-US" sz="12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 "</a:t>
            </a:r>
            <a:r>
              <a:rPr lang="en-US" sz="1200" err="1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procesiranje</a:t>
            </a:r>
            <a:r>
              <a:rPr lang="en-US" sz="12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 mRNA".</a:t>
            </a:r>
          </a:p>
        </p:txBody>
      </p:sp>
      <p:sp>
        <p:nvSpPr>
          <p:cNvPr id="13" name="Shape 10"/>
          <p:cNvSpPr/>
          <p:nvPr/>
        </p:nvSpPr>
        <p:spPr>
          <a:xfrm>
            <a:off x="4416552" y="2148840"/>
            <a:ext cx="3703320" cy="3520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270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SI"/>
          </a:p>
        </p:txBody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90872" y="2423160"/>
            <a:ext cx="457200" cy="45720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5285232" y="2423160"/>
            <a:ext cx="2697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b="1" err="1">
                <a:solidFill>
                  <a:srgbClr val="0F766E"/>
                </a:solidFill>
                <a:ea typeface="Calibri"/>
                <a:cs typeface="Calibri"/>
              </a:rPr>
              <a:t>Jedrno-citoplazemski</a:t>
            </a:r>
            <a:r>
              <a:rPr lang="en-US" sz="1600" b="1">
                <a:solidFill>
                  <a:srgbClr val="0F766E"/>
                </a:solidFill>
                <a:ea typeface="Calibri"/>
                <a:cs typeface="Calibri"/>
              </a:rPr>
              <a:t> transport</a:t>
            </a:r>
          </a:p>
        </p:txBody>
      </p:sp>
      <p:sp>
        <p:nvSpPr>
          <p:cNvPr id="16" name="Shape 12"/>
          <p:cNvSpPr/>
          <p:nvPr/>
        </p:nvSpPr>
        <p:spPr>
          <a:xfrm>
            <a:off x="4690872" y="3108960"/>
            <a:ext cx="3154680" cy="548640"/>
          </a:xfrm>
          <a:prstGeom prst="rect">
            <a:avLst/>
          </a:prstGeom>
          <a:solidFill>
            <a:srgbClr val="FEF9EE"/>
          </a:solidFill>
          <a:ln w="12700">
            <a:solidFill>
              <a:srgbClr val="FEF9EE"/>
            </a:solidFill>
            <a:prstDash val="solid"/>
          </a:ln>
        </p:spPr>
        <p:txBody>
          <a:bodyPr/>
          <a:lstStyle/>
          <a:p>
            <a:endParaRPr lang="en-SI"/>
          </a:p>
        </p:txBody>
      </p:sp>
      <p:sp>
        <p:nvSpPr>
          <p:cNvPr id="17" name="Text 13"/>
          <p:cNvSpPr/>
          <p:nvPr/>
        </p:nvSpPr>
        <p:spPr>
          <a:xfrm>
            <a:off x="4690872" y="3108960"/>
            <a:ext cx="3154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i="1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SRM1</a:t>
            </a:r>
            <a:endParaRPr lang="en-US" sz="1400">
              <a:latin typeface="Calibri"/>
              <a:ea typeface="Calibri"/>
              <a:cs typeface="Calibri"/>
            </a:endParaRPr>
          </a:p>
        </p:txBody>
      </p:sp>
      <p:sp>
        <p:nvSpPr>
          <p:cNvPr id="18" name="Text 14"/>
          <p:cNvSpPr/>
          <p:nvPr/>
        </p:nvSpPr>
        <p:spPr>
          <a:xfrm>
            <a:off x="4690872" y="3703320"/>
            <a:ext cx="3154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i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GTPaza Gsp1 · jedrno-citoplazemski transport</a:t>
            </a:r>
            <a:endParaRPr lang="en-US" sz="1100"/>
          </a:p>
        </p:txBody>
      </p:sp>
      <p:sp>
        <p:nvSpPr>
          <p:cNvPr id="19" name="Text 15"/>
          <p:cNvSpPr/>
          <p:nvPr/>
        </p:nvSpPr>
        <p:spPr>
          <a:xfrm>
            <a:off x="4690872" y="4343400"/>
            <a:ext cx="31546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SRM1 (</a:t>
            </a:r>
            <a:r>
              <a:rPr lang="en-US" sz="1200" err="1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nukleotidni</a:t>
            </a:r>
            <a:r>
              <a:rPr lang="en-US" sz="12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200" err="1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izmenjevalni</a:t>
            </a:r>
            <a:r>
              <a:rPr lang="en-US" sz="12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200" err="1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faktor</a:t>
            </a:r>
            <a:r>
              <a:rPr lang="en-US" sz="12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) </a:t>
            </a:r>
            <a:r>
              <a:rPr lang="en-US" sz="1200" err="1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sodeluje</a:t>
            </a:r>
            <a:r>
              <a:rPr lang="en-US" sz="12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200" err="1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pri</a:t>
            </a:r>
            <a:r>
              <a:rPr lang="en-US" sz="12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200" err="1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transportu</a:t>
            </a:r>
            <a:r>
              <a:rPr lang="en-US" sz="12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200" err="1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makromolekul</a:t>
            </a:r>
            <a:r>
              <a:rPr lang="en-US" sz="12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 med </a:t>
            </a:r>
            <a:r>
              <a:rPr lang="en-US" sz="1200" err="1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jedrom</a:t>
            </a:r>
            <a:r>
              <a:rPr lang="en-US" sz="12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 in </a:t>
            </a:r>
            <a:r>
              <a:rPr lang="en-US" sz="1200" err="1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citoplazmo</a:t>
            </a:r>
            <a:r>
              <a:rPr lang="en-US" sz="12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.</a:t>
            </a:r>
            <a:endParaRPr lang="en-US" sz="1200">
              <a:latin typeface="Calibri"/>
              <a:ea typeface="Calibri"/>
              <a:cs typeface="Calibri"/>
            </a:endParaRPr>
          </a:p>
        </p:txBody>
      </p:sp>
      <p:sp>
        <p:nvSpPr>
          <p:cNvPr id="20" name="Shape 16"/>
          <p:cNvSpPr/>
          <p:nvPr/>
        </p:nvSpPr>
        <p:spPr>
          <a:xfrm>
            <a:off x="8284464" y="2148840"/>
            <a:ext cx="3703320" cy="3520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270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SI"/>
          </a:p>
        </p:txBody>
      </p:sp>
      <p:pic>
        <p:nvPicPr>
          <p:cNvPr id="2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58784" y="2423160"/>
            <a:ext cx="457200" cy="457200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9153144" y="2423160"/>
            <a:ext cx="2697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Retrogradni odziv</a:t>
            </a:r>
            <a:endParaRPr lang="en-US" sz="1600"/>
          </a:p>
        </p:txBody>
      </p:sp>
      <p:sp>
        <p:nvSpPr>
          <p:cNvPr id="23" name="Shape 18"/>
          <p:cNvSpPr/>
          <p:nvPr/>
        </p:nvSpPr>
        <p:spPr>
          <a:xfrm>
            <a:off x="8558784" y="3108960"/>
            <a:ext cx="3154680" cy="548640"/>
          </a:xfrm>
          <a:prstGeom prst="rect">
            <a:avLst/>
          </a:prstGeom>
          <a:solidFill>
            <a:srgbClr val="FEF9EE"/>
          </a:solidFill>
          <a:ln w="12700">
            <a:solidFill>
              <a:srgbClr val="FEF9EE"/>
            </a:solidFill>
            <a:prstDash val="solid"/>
          </a:ln>
        </p:spPr>
        <p:txBody>
          <a:bodyPr/>
          <a:lstStyle/>
          <a:p>
            <a:endParaRPr lang="en-SI"/>
          </a:p>
        </p:txBody>
      </p:sp>
      <p:sp>
        <p:nvSpPr>
          <p:cNvPr id="24" name="Text 19"/>
          <p:cNvSpPr/>
          <p:nvPr/>
        </p:nvSpPr>
        <p:spPr>
          <a:xfrm>
            <a:off x="8558784" y="3108960"/>
            <a:ext cx="3154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i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RTG1</a:t>
            </a:r>
            <a:endParaRPr lang="en-US" sz="1400"/>
          </a:p>
        </p:txBody>
      </p:sp>
      <p:sp>
        <p:nvSpPr>
          <p:cNvPr id="25" name="Text 20"/>
          <p:cNvSpPr/>
          <p:nvPr/>
        </p:nvSpPr>
        <p:spPr>
          <a:xfrm>
            <a:off x="8558784" y="3703320"/>
            <a:ext cx="3154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/>
            <a:r>
              <a:rPr lang="en-US" sz="1100" i="1" err="1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Signalizacija</a:t>
            </a:r>
            <a:r>
              <a:rPr lang="en-US" sz="1100" i="1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 </a:t>
            </a:r>
            <a:r>
              <a:rPr lang="en-US" sz="1100" i="1" err="1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mitohondrij</a:t>
            </a:r>
            <a:r>
              <a:rPr lang="en-US" sz="1100" i="1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 → </a:t>
            </a:r>
            <a:r>
              <a:rPr lang="en-US" sz="1100" i="1" err="1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jedro</a:t>
            </a:r>
            <a:endParaRPr lang="en-US" sz="1100" i="1" err="1">
              <a:solidFill>
                <a:srgbClr val="64748B"/>
              </a:solidFill>
              <a:ea typeface="Calibri"/>
              <a:cs typeface="Calibri"/>
            </a:endParaRPr>
          </a:p>
        </p:txBody>
      </p:sp>
      <p:sp>
        <p:nvSpPr>
          <p:cNvPr id="26" name="Text 21"/>
          <p:cNvSpPr/>
          <p:nvPr/>
        </p:nvSpPr>
        <p:spPr>
          <a:xfrm>
            <a:off x="8558784" y="4343400"/>
            <a:ext cx="31546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200" err="1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Transkripcijski</a:t>
            </a:r>
            <a:r>
              <a:rPr lang="en-US" sz="12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200" err="1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faktor</a:t>
            </a:r>
            <a:r>
              <a:rPr lang="en-US" sz="12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200" err="1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retrogradnega</a:t>
            </a:r>
            <a:r>
              <a:rPr lang="en-US" sz="12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200" err="1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odziva</a:t>
            </a:r>
            <a:r>
              <a:rPr lang="en-US" sz="12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 — </a:t>
            </a:r>
            <a:r>
              <a:rPr lang="en-US" sz="1200" err="1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aktivira</a:t>
            </a:r>
            <a:r>
              <a:rPr lang="en-US" sz="12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 se </a:t>
            </a:r>
            <a:r>
              <a:rPr lang="en-US" sz="1200" err="1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ob</a:t>
            </a:r>
            <a:r>
              <a:rPr lang="en-US" sz="12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200" err="1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motnjah</a:t>
            </a:r>
            <a:r>
              <a:rPr lang="en-US" sz="12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200" err="1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mitohondrijske</a:t>
            </a:r>
            <a:r>
              <a:rPr lang="en-US" sz="12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200" err="1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respiracije</a:t>
            </a:r>
            <a:r>
              <a:rPr lang="en-US" sz="12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 , </a:t>
            </a:r>
            <a:r>
              <a:rPr lang="en-US" sz="1200" err="1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povezava</a:t>
            </a:r>
            <a:r>
              <a:rPr lang="en-US" sz="12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 z FMP25. </a:t>
            </a:r>
            <a:endParaRPr lang="en-US" sz="1200">
              <a:solidFill>
                <a:srgbClr val="1E293B"/>
              </a:solidFill>
              <a:ea typeface="Calibri"/>
              <a:cs typeface="Calibri"/>
            </a:endParaRPr>
          </a:p>
        </p:txBody>
      </p:sp>
      <p:sp>
        <p:nvSpPr>
          <p:cNvPr id="27" name="Shape 22"/>
          <p:cNvSpPr/>
          <p:nvPr/>
        </p:nvSpPr>
        <p:spPr>
          <a:xfrm>
            <a:off x="548640" y="5852160"/>
            <a:ext cx="11064240" cy="45720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en-SI"/>
          </a:p>
        </p:txBody>
      </p:sp>
      <p:sp>
        <p:nvSpPr>
          <p:cNvPr id="28" name="Text 23"/>
          <p:cNvSpPr/>
          <p:nvPr/>
        </p:nvSpPr>
        <p:spPr>
          <a:xfrm>
            <a:off x="548640" y="585216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3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mitohondrijska </a:t>
            </a:r>
            <a:r>
              <a:rPr lang="en-US" sz="1300" b="1" err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obremenitev</a:t>
            </a:r>
            <a:r>
              <a:rPr lang="en-US" sz="13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 + </a:t>
            </a:r>
            <a:r>
              <a:rPr lang="en-US" sz="1300" b="1" err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reorganizacija</a:t>
            </a:r>
            <a:r>
              <a:rPr lang="en-US" sz="13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 </a:t>
            </a:r>
            <a:r>
              <a:rPr lang="en-US" sz="1300" b="1" err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izrezovalnega</a:t>
            </a:r>
            <a:r>
              <a:rPr lang="en-US" sz="13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300" b="1" err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telesca</a:t>
            </a:r>
            <a:r>
              <a:rPr lang="en-US" sz="13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 + </a:t>
            </a:r>
            <a:r>
              <a:rPr lang="en-US" sz="1300" b="1" err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zmanjšanje</a:t>
            </a:r>
            <a:r>
              <a:rPr lang="en-US" sz="13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300" b="1" err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proteinske</a:t>
            </a:r>
            <a:r>
              <a:rPr lang="en-US" sz="13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300" b="1" err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sinteze</a:t>
            </a:r>
            <a:r>
              <a:rPr lang="en-US" sz="13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 = </a:t>
            </a:r>
            <a:r>
              <a:rPr lang="en-US" sz="1300" b="1" err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jedro</a:t>
            </a:r>
            <a:r>
              <a:rPr lang="en-US" sz="13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300" b="1" err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splošnega</a:t>
            </a:r>
            <a:r>
              <a:rPr lang="en-US" sz="13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300" b="1" err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stresnega</a:t>
            </a:r>
            <a:r>
              <a:rPr lang="en-US" sz="13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300" b="1" err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odziva</a:t>
            </a:r>
            <a:endParaRPr lang="en-US" sz="1300" err="1">
              <a:latin typeface="Calibri"/>
              <a:ea typeface="Calibri"/>
              <a:cs typeface="Calibri"/>
            </a:endParaRPr>
          </a:p>
        </p:txBody>
      </p:sp>
      <p:sp>
        <p:nvSpPr>
          <p:cNvPr id="29" name="Shape 24"/>
          <p:cNvSpPr/>
          <p:nvPr/>
        </p:nvSpPr>
        <p:spPr>
          <a:xfrm>
            <a:off x="0" y="6537960"/>
            <a:ext cx="12161520" cy="320040"/>
          </a:xfrm>
          <a:prstGeom prst="rect">
            <a:avLst/>
          </a:prstGeom>
          <a:solidFill>
            <a:srgbClr val="FEF9EE"/>
          </a:solidFill>
          <a:ln w="12700">
            <a:solidFill>
              <a:srgbClr val="FEF9EE"/>
            </a:solidFill>
            <a:prstDash val="solid"/>
          </a:ln>
        </p:spPr>
        <p:txBody>
          <a:bodyPr/>
          <a:lstStyle/>
          <a:p>
            <a:endParaRPr lang="en-SI"/>
          </a:p>
        </p:txBody>
      </p:sp>
      <p:sp>
        <p:nvSpPr>
          <p:cNvPr id="30" name="Shape 25"/>
          <p:cNvSpPr/>
          <p:nvPr/>
        </p:nvSpPr>
        <p:spPr>
          <a:xfrm>
            <a:off x="0" y="6537960"/>
            <a:ext cx="548640" cy="32004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en-SI"/>
          </a:p>
        </p:txBody>
      </p:sp>
      <p:sp>
        <p:nvSpPr>
          <p:cNvPr id="31" name="Text 26"/>
          <p:cNvSpPr/>
          <p:nvPr/>
        </p:nvSpPr>
        <p:spPr>
          <a:xfrm>
            <a:off x="0" y="653796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200"/>
          </a:p>
        </p:txBody>
      </p:sp>
      <p:sp>
        <p:nvSpPr>
          <p:cNvPr id="32" name="Text 27"/>
          <p:cNvSpPr/>
          <p:nvPr/>
        </p:nvSpPr>
        <p:spPr>
          <a:xfrm>
            <a:off x="640080" y="65379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Funkcijska genomika - Seminar - Aljaž Kos</a:t>
            </a:r>
            <a:r>
              <a:rPr lang="sl-SI" sz="1000">
                <a:solidFill>
                  <a:schemeClr val="bg2">
                    <a:lumMod val="5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, Simon Kristl</a:t>
            </a:r>
            <a:endParaRPr lang="en-US" sz="1000"/>
          </a:p>
        </p:txBody>
      </p:sp>
      <p:sp>
        <p:nvSpPr>
          <p:cNvPr id="33" name="Text 28"/>
          <p:cNvSpPr/>
          <p:nvPr/>
        </p:nvSpPr>
        <p:spPr>
          <a:xfrm>
            <a:off x="7132320" y="653796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i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S. cerevisiae | Univerzalni stresni markerji</a:t>
            </a:r>
            <a:endParaRPr lang="en-US" sz="10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F9E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72326BD-141B-DA16-6FC7-A13E356695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E46A1B40-B678-24B1-2CCA-92E2739B9FB7}"/>
              </a:ext>
            </a:extLst>
          </p:cNvPr>
          <p:cNvSpPr/>
          <p:nvPr/>
        </p:nvSpPr>
        <p:spPr>
          <a:xfrm>
            <a:off x="548640" y="32004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>
                <a:solidFill>
                  <a:srgbClr val="0F766E"/>
                </a:solidFill>
                <a:latin typeface="Calibri"/>
                <a:ea typeface="Calibri"/>
                <a:cs typeface="Calibri"/>
              </a:rPr>
              <a:t>REZULTATI</a:t>
            </a:r>
            <a:endParaRPr lang="en-US" sz="1100"/>
          </a:p>
        </p:txBody>
      </p:sp>
      <p:sp>
        <p:nvSpPr>
          <p:cNvPr id="29" name="Shape 24">
            <a:extLst>
              <a:ext uri="{FF2B5EF4-FFF2-40B4-BE49-F238E27FC236}">
                <a16:creationId xmlns:a16="http://schemas.microsoft.com/office/drawing/2014/main" id="{FB42A5BD-6562-7AC5-CEEC-D5EAA8A8E4C2}"/>
              </a:ext>
            </a:extLst>
          </p:cNvPr>
          <p:cNvSpPr/>
          <p:nvPr/>
        </p:nvSpPr>
        <p:spPr>
          <a:xfrm>
            <a:off x="0" y="6537960"/>
            <a:ext cx="12161520" cy="320040"/>
          </a:xfrm>
          <a:prstGeom prst="rect">
            <a:avLst/>
          </a:prstGeom>
          <a:solidFill>
            <a:srgbClr val="FEF9EE"/>
          </a:solidFill>
          <a:ln w="12700">
            <a:solidFill>
              <a:srgbClr val="FEF9EE"/>
            </a:solidFill>
            <a:prstDash val="solid"/>
          </a:ln>
        </p:spPr>
        <p:txBody>
          <a:bodyPr/>
          <a:lstStyle/>
          <a:p>
            <a:endParaRPr lang="en-SI"/>
          </a:p>
        </p:txBody>
      </p:sp>
      <p:sp>
        <p:nvSpPr>
          <p:cNvPr id="30" name="Shape 25">
            <a:extLst>
              <a:ext uri="{FF2B5EF4-FFF2-40B4-BE49-F238E27FC236}">
                <a16:creationId xmlns:a16="http://schemas.microsoft.com/office/drawing/2014/main" id="{591ED4FC-69CA-A45D-86F1-1FA9FCE52964}"/>
              </a:ext>
            </a:extLst>
          </p:cNvPr>
          <p:cNvSpPr/>
          <p:nvPr/>
        </p:nvSpPr>
        <p:spPr>
          <a:xfrm>
            <a:off x="0" y="6537960"/>
            <a:ext cx="548640" cy="32004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en-SI"/>
          </a:p>
        </p:txBody>
      </p:sp>
      <p:sp>
        <p:nvSpPr>
          <p:cNvPr id="31" name="Text 26">
            <a:extLst>
              <a:ext uri="{FF2B5EF4-FFF2-40B4-BE49-F238E27FC236}">
                <a16:creationId xmlns:a16="http://schemas.microsoft.com/office/drawing/2014/main" id="{C450C87B-EFB3-7560-10BD-E448EB5970A5}"/>
              </a:ext>
            </a:extLst>
          </p:cNvPr>
          <p:cNvSpPr/>
          <p:nvPr/>
        </p:nvSpPr>
        <p:spPr>
          <a:xfrm>
            <a:off x="0" y="653796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11</a:t>
            </a:r>
            <a:endParaRPr lang="en-US" sz="1200"/>
          </a:p>
        </p:txBody>
      </p:sp>
      <p:sp>
        <p:nvSpPr>
          <p:cNvPr id="32" name="Text 27">
            <a:extLst>
              <a:ext uri="{FF2B5EF4-FFF2-40B4-BE49-F238E27FC236}">
                <a16:creationId xmlns:a16="http://schemas.microsoft.com/office/drawing/2014/main" id="{57EC57EA-F1EB-461B-2D17-7A0812CF4208}"/>
              </a:ext>
            </a:extLst>
          </p:cNvPr>
          <p:cNvSpPr/>
          <p:nvPr/>
        </p:nvSpPr>
        <p:spPr>
          <a:xfrm>
            <a:off x="640080" y="65379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Funkcijska genomika - Seminar - Aljaž Kos</a:t>
            </a:r>
            <a:r>
              <a:rPr lang="sl-SI" sz="1000">
                <a:solidFill>
                  <a:schemeClr val="bg2">
                    <a:lumMod val="5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, Simon Kristl</a:t>
            </a:r>
            <a:endParaRPr lang="en-US" sz="1000"/>
          </a:p>
        </p:txBody>
      </p:sp>
      <p:sp>
        <p:nvSpPr>
          <p:cNvPr id="33" name="Text 28">
            <a:extLst>
              <a:ext uri="{FF2B5EF4-FFF2-40B4-BE49-F238E27FC236}">
                <a16:creationId xmlns:a16="http://schemas.microsoft.com/office/drawing/2014/main" id="{B3272CAB-6D47-B87D-8D46-83E7173D2FB9}"/>
              </a:ext>
            </a:extLst>
          </p:cNvPr>
          <p:cNvSpPr/>
          <p:nvPr/>
        </p:nvSpPr>
        <p:spPr>
          <a:xfrm>
            <a:off x="7132320" y="653796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i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S. cerevisiae | Univerzalni stresni markerji</a:t>
            </a:r>
            <a:endParaRPr lang="en-US" sz="1000"/>
          </a:p>
        </p:txBody>
      </p:sp>
      <p:pic>
        <p:nvPicPr>
          <p:cNvPr id="35" name="Slika 34" descr="Slika, ki vsebuje besede krog, zemljevid, diagram&#10;&#10;Vsebina, ustvarjena z UI, morda ni pravilna.">
            <a:extLst>
              <a:ext uri="{FF2B5EF4-FFF2-40B4-BE49-F238E27FC236}">
                <a16:creationId xmlns:a16="http://schemas.microsoft.com/office/drawing/2014/main" id="{2554B3B3-BCB4-B7F7-B030-A812D8E4754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61461" y="321227"/>
            <a:ext cx="6142272" cy="6270000"/>
          </a:xfrm>
          <a:prstGeom prst="rect">
            <a:avLst/>
          </a:prstGeom>
        </p:spPr>
      </p:pic>
      <p:sp>
        <p:nvSpPr>
          <p:cNvPr id="38" name="Elipsa 37">
            <a:extLst>
              <a:ext uri="{FF2B5EF4-FFF2-40B4-BE49-F238E27FC236}">
                <a16:creationId xmlns:a16="http://schemas.microsoft.com/office/drawing/2014/main" id="{37144BC5-6FC1-9AE8-D95C-02C563FFFF0B}"/>
              </a:ext>
            </a:extLst>
          </p:cNvPr>
          <p:cNvSpPr/>
          <p:nvPr/>
        </p:nvSpPr>
        <p:spPr>
          <a:xfrm>
            <a:off x="4117360" y="3220890"/>
            <a:ext cx="729983" cy="653142"/>
          </a:xfrm>
          <a:prstGeom prst="ellipse">
            <a:avLst/>
          </a:prstGeom>
          <a:solidFill>
            <a:srgbClr val="00FF55">
              <a:alpha val="34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l-SI"/>
          </a:p>
        </p:txBody>
      </p:sp>
      <p:sp>
        <p:nvSpPr>
          <p:cNvPr id="43" name="Elipsa 42">
            <a:extLst>
              <a:ext uri="{FF2B5EF4-FFF2-40B4-BE49-F238E27FC236}">
                <a16:creationId xmlns:a16="http://schemas.microsoft.com/office/drawing/2014/main" id="{F8B14337-213C-344F-4C20-07F34E9B8D9C}"/>
              </a:ext>
            </a:extLst>
          </p:cNvPr>
          <p:cNvSpPr/>
          <p:nvPr/>
        </p:nvSpPr>
        <p:spPr>
          <a:xfrm>
            <a:off x="4546384" y="4271040"/>
            <a:ext cx="461042" cy="467445"/>
          </a:xfrm>
          <a:prstGeom prst="ellipse">
            <a:avLst/>
          </a:prstGeom>
          <a:solidFill>
            <a:srgbClr val="F200FF">
              <a:alpha val="34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l-SI"/>
          </a:p>
        </p:txBody>
      </p:sp>
    </p:spTree>
    <p:extLst>
      <p:ext uri="{BB962C8B-B14F-4D97-AF65-F5344CB8AC3E}">
        <p14:creationId xmlns:p14="http://schemas.microsoft.com/office/powerpoint/2010/main" val="51931563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KRITIČNI POGLED</a:t>
            </a:r>
            <a:endParaRPr lang="en-US" sz="1100"/>
          </a:p>
        </p:txBody>
      </p:sp>
      <p:sp>
        <p:nvSpPr>
          <p:cNvPr id="3" name="Text 1"/>
          <p:cNvSpPr/>
          <p:nvPr/>
        </p:nvSpPr>
        <p:spPr>
          <a:xfrm>
            <a:off x="548640" y="54864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Omejitve analize</a:t>
            </a:r>
            <a:endParaRPr lang="en-US" sz="3000"/>
          </a:p>
        </p:txBody>
      </p:sp>
      <p:sp>
        <p:nvSpPr>
          <p:cNvPr id="4" name="Shape 2"/>
          <p:cNvSpPr/>
          <p:nvPr/>
        </p:nvSpPr>
        <p:spPr>
          <a:xfrm>
            <a:off x="548640" y="1234440"/>
            <a:ext cx="548640" cy="5486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SI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11064240" cy="1234440"/>
          </a:xfrm>
          <a:prstGeom prst="rect">
            <a:avLst/>
          </a:prstGeom>
          <a:solidFill>
            <a:srgbClr val="FEF9EE"/>
          </a:solidFill>
          <a:ln w="12700">
            <a:solidFill>
              <a:srgbClr val="FEF9EE"/>
            </a:solidFill>
            <a:prstDash val="solid"/>
          </a:ln>
        </p:spPr>
        <p:txBody>
          <a:bodyPr/>
          <a:lstStyle/>
          <a:p>
            <a:endParaRPr lang="en-SI"/>
          </a:p>
        </p:txBody>
      </p:sp>
      <p:sp>
        <p:nvSpPr>
          <p:cNvPr id="6" name="Shape 4"/>
          <p:cNvSpPr/>
          <p:nvPr/>
        </p:nvSpPr>
        <p:spPr>
          <a:xfrm>
            <a:off x="548640" y="1691640"/>
            <a:ext cx="91440" cy="12344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SI"/>
          </a:p>
        </p:txBody>
      </p:sp>
      <p:sp>
        <p:nvSpPr>
          <p:cNvPr id="7" name="Shape 5"/>
          <p:cNvSpPr/>
          <p:nvPr/>
        </p:nvSpPr>
        <p:spPr>
          <a:xfrm>
            <a:off x="914400" y="2011680"/>
            <a:ext cx="594360" cy="594360"/>
          </a:xfrm>
          <a:prstGeom prst="ellipse">
            <a:avLst/>
          </a:prstGeom>
          <a:solidFill>
            <a:srgbClr val="FEF3C7"/>
          </a:solidFill>
          <a:ln w="1905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SI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4128" y="2103120"/>
            <a:ext cx="384048" cy="38404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737360" y="1874520"/>
            <a:ext cx="9692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Normalizacija DESeq2</a:t>
            </a:r>
            <a:endParaRPr lang="en-US" sz="1600"/>
          </a:p>
        </p:txBody>
      </p:sp>
      <p:sp>
        <p:nvSpPr>
          <p:cNvPr id="10" name="Text 7"/>
          <p:cNvSpPr/>
          <p:nvPr/>
        </p:nvSpPr>
        <p:spPr>
          <a:xfrm>
            <a:off x="1737360" y="2240280"/>
            <a:ext cx="9692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Median-of-ratios predpostavlja stabilno skupno količino RNA. Pri stradanju glukoze celice z manj energije globalno proizvajajo manj RNA — predpostavka morda ne drži v celoti.</a:t>
            </a:r>
            <a:endParaRPr lang="en-US" sz="1300"/>
          </a:p>
        </p:txBody>
      </p:sp>
      <p:sp>
        <p:nvSpPr>
          <p:cNvPr id="11" name="Shape 8"/>
          <p:cNvSpPr/>
          <p:nvPr/>
        </p:nvSpPr>
        <p:spPr>
          <a:xfrm>
            <a:off x="548640" y="3090672"/>
            <a:ext cx="11064240" cy="1234440"/>
          </a:xfrm>
          <a:prstGeom prst="rect">
            <a:avLst/>
          </a:prstGeom>
          <a:solidFill>
            <a:srgbClr val="FEF9EE"/>
          </a:solidFill>
          <a:ln w="12700">
            <a:solidFill>
              <a:srgbClr val="FEF9EE"/>
            </a:solidFill>
            <a:prstDash val="solid"/>
          </a:ln>
        </p:spPr>
        <p:txBody>
          <a:bodyPr/>
          <a:lstStyle/>
          <a:p>
            <a:endParaRPr lang="en-SI"/>
          </a:p>
        </p:txBody>
      </p:sp>
      <p:sp>
        <p:nvSpPr>
          <p:cNvPr id="12" name="Shape 9"/>
          <p:cNvSpPr/>
          <p:nvPr/>
        </p:nvSpPr>
        <p:spPr>
          <a:xfrm>
            <a:off x="548640" y="3090672"/>
            <a:ext cx="91440" cy="12344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SI"/>
          </a:p>
        </p:txBody>
      </p:sp>
      <p:sp>
        <p:nvSpPr>
          <p:cNvPr id="13" name="Shape 10"/>
          <p:cNvSpPr/>
          <p:nvPr/>
        </p:nvSpPr>
        <p:spPr>
          <a:xfrm>
            <a:off x="914400" y="3410712"/>
            <a:ext cx="594360" cy="594360"/>
          </a:xfrm>
          <a:prstGeom prst="ellipse">
            <a:avLst/>
          </a:prstGeom>
          <a:solidFill>
            <a:srgbClr val="FEF3C7"/>
          </a:solidFill>
          <a:ln w="1905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SI"/>
          </a:p>
        </p:txBody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4128" y="3502152"/>
            <a:ext cx="384048" cy="384048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1737360" y="3273552"/>
            <a:ext cx="9692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 enrichment - majhen vzorec</a:t>
            </a:r>
            <a:endParaRPr lang="en-US" sz="1600"/>
          </a:p>
        </p:txBody>
      </p:sp>
      <p:sp>
        <p:nvSpPr>
          <p:cNvPr id="16" name="Text 12"/>
          <p:cNvSpPr/>
          <p:nvPr/>
        </p:nvSpPr>
        <p:spPr>
          <a:xfrm>
            <a:off x="1737360" y="3639312"/>
            <a:ext cx="9692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150 skupnih genov je premalo za zanesljivo statistično analizo po BH korekciji. GO rezultati so eksploratorni in zahtevajo dodatno validacijo.</a:t>
            </a:r>
            <a:endParaRPr lang="en-US" sz="1300"/>
          </a:p>
        </p:txBody>
      </p:sp>
      <p:sp>
        <p:nvSpPr>
          <p:cNvPr id="17" name="Shape 13"/>
          <p:cNvSpPr/>
          <p:nvPr/>
        </p:nvSpPr>
        <p:spPr>
          <a:xfrm>
            <a:off x="548640" y="4489704"/>
            <a:ext cx="11064240" cy="1234440"/>
          </a:xfrm>
          <a:prstGeom prst="rect">
            <a:avLst/>
          </a:prstGeom>
          <a:solidFill>
            <a:srgbClr val="FEF9EE"/>
          </a:solidFill>
          <a:ln w="12700">
            <a:solidFill>
              <a:srgbClr val="FEF9EE"/>
            </a:solidFill>
            <a:prstDash val="solid"/>
          </a:ln>
        </p:spPr>
        <p:txBody>
          <a:bodyPr/>
          <a:lstStyle/>
          <a:p>
            <a:endParaRPr lang="en-SI"/>
          </a:p>
        </p:txBody>
      </p:sp>
      <p:sp>
        <p:nvSpPr>
          <p:cNvPr id="18" name="Shape 14"/>
          <p:cNvSpPr/>
          <p:nvPr/>
        </p:nvSpPr>
        <p:spPr>
          <a:xfrm>
            <a:off x="548640" y="4489704"/>
            <a:ext cx="91440" cy="12344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SI"/>
          </a:p>
        </p:txBody>
      </p:sp>
      <p:sp>
        <p:nvSpPr>
          <p:cNvPr id="19" name="Shape 15"/>
          <p:cNvSpPr/>
          <p:nvPr/>
        </p:nvSpPr>
        <p:spPr>
          <a:xfrm>
            <a:off x="914400" y="4809744"/>
            <a:ext cx="594360" cy="594360"/>
          </a:xfrm>
          <a:prstGeom prst="ellipse">
            <a:avLst/>
          </a:prstGeom>
          <a:solidFill>
            <a:srgbClr val="FEF3C7"/>
          </a:solidFill>
          <a:ln w="1905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SI"/>
          </a:p>
        </p:txBody>
      </p:sp>
      <p:pic>
        <p:nvPicPr>
          <p:cNvPr id="20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4128" y="4901184"/>
            <a:ext cx="384048" cy="384048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1737360" y="4672584"/>
            <a:ext cx="9692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Variabilnost med celicami</a:t>
            </a:r>
            <a:endParaRPr lang="en-US" sz="1600"/>
          </a:p>
        </p:txBody>
      </p:sp>
      <p:sp>
        <p:nvSpPr>
          <p:cNvPr id="22" name="Text 17"/>
          <p:cNvSpPr/>
          <p:nvPr/>
        </p:nvSpPr>
        <p:spPr>
          <a:xfrm>
            <a:off x="1737360" y="5038344"/>
            <a:ext cx="9692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Visoka biološka variabilnost pri scRNA-seq (posebej pri stradanju glukoze) zmanjšuje statistično moč. Za večjo zanesljivost bi bilo idealno več celic na pogoj.</a:t>
            </a:r>
            <a:endParaRPr lang="en-US" sz="1300"/>
          </a:p>
        </p:txBody>
      </p:sp>
      <p:sp>
        <p:nvSpPr>
          <p:cNvPr id="23" name="Shape 18"/>
          <p:cNvSpPr/>
          <p:nvPr/>
        </p:nvSpPr>
        <p:spPr>
          <a:xfrm>
            <a:off x="0" y="6537960"/>
            <a:ext cx="12161520" cy="320040"/>
          </a:xfrm>
          <a:prstGeom prst="rect">
            <a:avLst/>
          </a:prstGeom>
          <a:solidFill>
            <a:srgbClr val="FEF9EE"/>
          </a:solidFill>
          <a:ln w="12700">
            <a:solidFill>
              <a:srgbClr val="FEF9EE"/>
            </a:solidFill>
            <a:prstDash val="solid"/>
          </a:ln>
        </p:spPr>
        <p:txBody>
          <a:bodyPr/>
          <a:lstStyle/>
          <a:p>
            <a:endParaRPr lang="en-SI"/>
          </a:p>
        </p:txBody>
      </p:sp>
      <p:sp>
        <p:nvSpPr>
          <p:cNvPr id="24" name="Shape 19"/>
          <p:cNvSpPr/>
          <p:nvPr/>
        </p:nvSpPr>
        <p:spPr>
          <a:xfrm>
            <a:off x="0" y="6537960"/>
            <a:ext cx="548640" cy="32004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en-SI"/>
          </a:p>
        </p:txBody>
      </p:sp>
      <p:sp>
        <p:nvSpPr>
          <p:cNvPr id="25" name="Text 20"/>
          <p:cNvSpPr/>
          <p:nvPr/>
        </p:nvSpPr>
        <p:spPr>
          <a:xfrm>
            <a:off x="0" y="653796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12</a:t>
            </a:r>
            <a:endParaRPr lang="en-US" sz="1200"/>
          </a:p>
        </p:txBody>
      </p:sp>
      <p:sp>
        <p:nvSpPr>
          <p:cNvPr id="26" name="Text 21"/>
          <p:cNvSpPr/>
          <p:nvPr/>
        </p:nvSpPr>
        <p:spPr>
          <a:xfrm>
            <a:off x="640080" y="65379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Funkcijska genomika - Seminar - Aljaž Kos</a:t>
            </a:r>
            <a:r>
              <a:rPr lang="sl-SI" sz="1000">
                <a:solidFill>
                  <a:schemeClr val="bg2">
                    <a:lumMod val="5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, Simon Kristl</a:t>
            </a:r>
            <a:endParaRPr lang="en-US" sz="1000"/>
          </a:p>
        </p:txBody>
      </p:sp>
      <p:sp>
        <p:nvSpPr>
          <p:cNvPr id="27" name="Text 22"/>
          <p:cNvSpPr/>
          <p:nvPr/>
        </p:nvSpPr>
        <p:spPr>
          <a:xfrm>
            <a:off x="7132320" y="653796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i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S. cerevisiae | Univerzalni stresni markerji</a:t>
            </a:r>
            <a:endParaRPr lang="en-US" sz="10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F2E2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>
            <a:alphaModFix amt="18000"/>
          </a:blip>
          <a:stretch>
            <a:fillRect/>
          </a:stretch>
        </p:blipFill>
        <p:spPr>
          <a:xfrm>
            <a:off x="10058400" y="274320"/>
            <a:ext cx="1828800" cy="18288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48640" y="594360"/>
            <a:ext cx="640080" cy="7315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SI"/>
          </a:p>
        </p:txBody>
      </p:sp>
      <p:sp>
        <p:nvSpPr>
          <p:cNvPr id="4" name="Text 1"/>
          <p:cNvSpPr/>
          <p:nvPr/>
        </p:nvSpPr>
        <p:spPr>
          <a:xfrm>
            <a:off x="548640" y="7315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50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ZAKLJUČEK</a:t>
            </a:r>
            <a:endParaRPr lang="en-US" sz="1400"/>
          </a:p>
        </p:txBody>
      </p:sp>
      <p:sp>
        <p:nvSpPr>
          <p:cNvPr id="5" name="Text 2"/>
          <p:cNvSpPr/>
          <p:nvPr/>
        </p:nvSpPr>
        <p:spPr>
          <a:xfrm>
            <a:off x="548640" y="1143000"/>
            <a:ext cx="9144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Usklajen celični odziv na stres</a:t>
            </a:r>
            <a:endParaRPr lang="en-US" sz="3800"/>
          </a:p>
        </p:txBody>
      </p:sp>
      <p:sp>
        <p:nvSpPr>
          <p:cNvPr id="6" name="Shape 3"/>
          <p:cNvSpPr/>
          <p:nvPr/>
        </p:nvSpPr>
        <p:spPr>
          <a:xfrm>
            <a:off x="640080" y="2286000"/>
            <a:ext cx="365760" cy="36576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SI"/>
          </a:p>
        </p:txBody>
      </p:sp>
      <p:sp>
        <p:nvSpPr>
          <p:cNvPr id="7" name="Text 4"/>
          <p:cNvSpPr/>
          <p:nvPr/>
        </p:nvSpPr>
        <p:spPr>
          <a:xfrm>
            <a:off x="640080" y="22860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/>
          </a:p>
        </p:txBody>
      </p:sp>
      <p:sp>
        <p:nvSpPr>
          <p:cNvPr id="8" name="Text 5"/>
          <p:cNvSpPr/>
          <p:nvPr/>
        </p:nvSpPr>
        <p:spPr>
          <a:xfrm>
            <a:off x="1188720" y="2240280"/>
            <a:ext cx="10424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Identificirali smo 150 genov skupnega stresnega odgovora — DEG-i v vseh treh pogojih.</a:t>
            </a:r>
            <a:endParaRPr lang="en-US" sz="1500"/>
          </a:p>
        </p:txBody>
      </p:sp>
      <p:sp>
        <p:nvSpPr>
          <p:cNvPr id="9" name="Shape 6"/>
          <p:cNvSpPr/>
          <p:nvPr/>
        </p:nvSpPr>
        <p:spPr>
          <a:xfrm>
            <a:off x="640080" y="3154680"/>
            <a:ext cx="365760" cy="36576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SI"/>
          </a:p>
        </p:txBody>
      </p:sp>
      <p:sp>
        <p:nvSpPr>
          <p:cNvPr id="10" name="Text 7"/>
          <p:cNvSpPr/>
          <p:nvPr/>
        </p:nvSpPr>
        <p:spPr>
          <a:xfrm>
            <a:off x="640080" y="31546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/>
          </a:p>
        </p:txBody>
      </p:sp>
      <p:sp>
        <p:nvSpPr>
          <p:cNvPr id="11" name="Text 8"/>
          <p:cNvSpPr/>
          <p:nvPr/>
        </p:nvSpPr>
        <p:spPr>
          <a:xfrm>
            <a:off x="1188720" y="3108960"/>
            <a:ext cx="10424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Skupni vzorec: preklop iz fermentacije v respiracijo + reorganizacija RNA-aparata + upočasnitev translacije.</a:t>
            </a:r>
            <a:endParaRPr lang="en-US" sz="1500"/>
          </a:p>
        </p:txBody>
      </p:sp>
      <p:sp>
        <p:nvSpPr>
          <p:cNvPr id="12" name="Shape 9"/>
          <p:cNvSpPr/>
          <p:nvPr/>
        </p:nvSpPr>
        <p:spPr>
          <a:xfrm>
            <a:off x="640080" y="4023360"/>
            <a:ext cx="365760" cy="36576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SI"/>
          </a:p>
        </p:txBody>
      </p:sp>
      <p:sp>
        <p:nvSpPr>
          <p:cNvPr id="13" name="Text 10"/>
          <p:cNvSpPr/>
          <p:nvPr/>
        </p:nvSpPr>
        <p:spPr>
          <a:xfrm>
            <a:off x="640080" y="4045447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/>
          </a:p>
        </p:txBody>
      </p:sp>
      <p:sp>
        <p:nvSpPr>
          <p:cNvPr id="14" name="Text 11"/>
          <p:cNvSpPr/>
          <p:nvPr/>
        </p:nvSpPr>
        <p:spPr>
          <a:xfrm>
            <a:off x="1188720" y="3977640"/>
            <a:ext cx="10424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Štirje ključni geni (ZNF1, SME1, FMP25, DUS3) predstavljajo kandidatne markerje splošnega stresnega odziva pri S. cerevisiae.</a:t>
            </a:r>
            <a:endParaRPr lang="en-US" sz="1500"/>
          </a:p>
        </p:txBody>
      </p:sp>
      <p:sp>
        <p:nvSpPr>
          <p:cNvPr id="15" name="Shape 12"/>
          <p:cNvSpPr/>
          <p:nvPr/>
        </p:nvSpPr>
        <p:spPr>
          <a:xfrm>
            <a:off x="0" y="5852160"/>
            <a:ext cx="12161520" cy="100584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en-SI"/>
          </a:p>
        </p:txBody>
      </p:sp>
      <p:sp>
        <p:nvSpPr>
          <p:cNvPr id="16" name="Text 13"/>
          <p:cNvSpPr/>
          <p:nvPr/>
        </p:nvSpPr>
        <p:spPr>
          <a:xfrm>
            <a:off x="548640" y="5852160"/>
            <a:ext cx="7315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Hvala za pozornost.</a:t>
            </a:r>
            <a:endParaRPr lang="en-US" sz="2400"/>
          </a:p>
        </p:txBody>
      </p:sp>
      <p:sp>
        <p:nvSpPr>
          <p:cNvPr id="17" name="Text 14"/>
          <p:cNvSpPr/>
          <p:nvPr/>
        </p:nvSpPr>
        <p:spPr>
          <a:xfrm>
            <a:off x="7040880" y="5852160"/>
            <a:ext cx="4846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i="1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Aljaž Kos  •  Funkcijska genomika  •  2026</a:t>
            </a:r>
            <a:endParaRPr lang="en-US" sz="130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2E2C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222C4D9-9F54-20AD-05F2-1B9E2E424D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
            <a:extLst>
              <a:ext uri="{FF2B5EF4-FFF2-40B4-BE49-F238E27FC236}">
                <a16:creationId xmlns:a16="http://schemas.microsoft.com/office/drawing/2014/main" id="{F7EF6E0B-3B67-C89C-CC4D-793C0EF83165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18000"/>
          </a:blip>
          <a:stretch>
            <a:fillRect/>
          </a:stretch>
        </p:blipFill>
        <p:spPr>
          <a:xfrm>
            <a:off x="10058400" y="274320"/>
            <a:ext cx="1828800" cy="1828800"/>
          </a:xfrm>
          <a:prstGeom prst="rect">
            <a:avLst/>
          </a:prstGeom>
        </p:spPr>
      </p:pic>
      <p:sp>
        <p:nvSpPr>
          <p:cNvPr id="3" name="Shape 0">
            <a:extLst>
              <a:ext uri="{FF2B5EF4-FFF2-40B4-BE49-F238E27FC236}">
                <a16:creationId xmlns:a16="http://schemas.microsoft.com/office/drawing/2014/main" id="{0D240973-2F42-044E-3A33-2F1F106645D1}"/>
              </a:ext>
            </a:extLst>
          </p:cNvPr>
          <p:cNvSpPr/>
          <p:nvPr/>
        </p:nvSpPr>
        <p:spPr>
          <a:xfrm>
            <a:off x="548640" y="594360"/>
            <a:ext cx="640080" cy="7315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SI"/>
          </a:p>
        </p:txBody>
      </p:sp>
      <p:sp>
        <p:nvSpPr>
          <p:cNvPr id="4" name="Text 1">
            <a:extLst>
              <a:ext uri="{FF2B5EF4-FFF2-40B4-BE49-F238E27FC236}">
                <a16:creationId xmlns:a16="http://schemas.microsoft.com/office/drawing/2014/main" id="{9E46915F-DDA5-09EB-2B39-67357F6535D7}"/>
              </a:ext>
            </a:extLst>
          </p:cNvPr>
          <p:cNvSpPr/>
          <p:nvPr/>
        </p:nvSpPr>
        <p:spPr>
          <a:xfrm>
            <a:off x="548640" y="7315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50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ZAKLJUČEK</a:t>
            </a:r>
            <a:endParaRPr lang="en-US" sz="1400"/>
          </a:p>
        </p:txBody>
      </p:sp>
      <p:sp>
        <p:nvSpPr>
          <p:cNvPr id="5" name="Text 2">
            <a:extLst>
              <a:ext uri="{FF2B5EF4-FFF2-40B4-BE49-F238E27FC236}">
                <a16:creationId xmlns:a16="http://schemas.microsoft.com/office/drawing/2014/main" id="{49F8D867-A191-7585-C289-22A78446530B}"/>
              </a:ext>
            </a:extLst>
          </p:cNvPr>
          <p:cNvSpPr/>
          <p:nvPr/>
        </p:nvSpPr>
        <p:spPr>
          <a:xfrm>
            <a:off x="548640" y="1143000"/>
            <a:ext cx="9144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Usklajen celični odziv na stres</a:t>
            </a:r>
            <a:endParaRPr lang="en-US" sz="3800"/>
          </a:p>
        </p:txBody>
      </p:sp>
      <p:sp>
        <p:nvSpPr>
          <p:cNvPr id="6" name="Shape 3">
            <a:extLst>
              <a:ext uri="{FF2B5EF4-FFF2-40B4-BE49-F238E27FC236}">
                <a16:creationId xmlns:a16="http://schemas.microsoft.com/office/drawing/2014/main" id="{BD7D0010-61C9-436F-870D-1890A5734711}"/>
              </a:ext>
            </a:extLst>
          </p:cNvPr>
          <p:cNvSpPr/>
          <p:nvPr/>
        </p:nvSpPr>
        <p:spPr>
          <a:xfrm>
            <a:off x="640080" y="2286000"/>
            <a:ext cx="365760" cy="36576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SI"/>
          </a:p>
        </p:txBody>
      </p:sp>
      <p:sp>
        <p:nvSpPr>
          <p:cNvPr id="7" name="Text 4">
            <a:extLst>
              <a:ext uri="{FF2B5EF4-FFF2-40B4-BE49-F238E27FC236}">
                <a16:creationId xmlns:a16="http://schemas.microsoft.com/office/drawing/2014/main" id="{1BF82F88-FD73-82DA-2BBA-354305DBB114}"/>
              </a:ext>
            </a:extLst>
          </p:cNvPr>
          <p:cNvSpPr/>
          <p:nvPr/>
        </p:nvSpPr>
        <p:spPr>
          <a:xfrm>
            <a:off x="640080" y="22860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/>
          </a:p>
        </p:txBody>
      </p:sp>
      <p:sp>
        <p:nvSpPr>
          <p:cNvPr id="8" name="Text 5">
            <a:extLst>
              <a:ext uri="{FF2B5EF4-FFF2-40B4-BE49-F238E27FC236}">
                <a16:creationId xmlns:a16="http://schemas.microsoft.com/office/drawing/2014/main" id="{87EEC30B-5E0D-8D8E-7B66-BF649A5B000C}"/>
              </a:ext>
            </a:extLst>
          </p:cNvPr>
          <p:cNvSpPr/>
          <p:nvPr/>
        </p:nvSpPr>
        <p:spPr>
          <a:xfrm>
            <a:off x="1188720" y="2240280"/>
            <a:ext cx="10424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Identificirali smo 150 genov skupnega stresnega odgovora — DEG-i v vseh treh pogojih.</a:t>
            </a:r>
            <a:endParaRPr lang="en-US" sz="1500"/>
          </a:p>
        </p:txBody>
      </p:sp>
      <p:sp>
        <p:nvSpPr>
          <p:cNvPr id="9" name="Shape 6">
            <a:extLst>
              <a:ext uri="{FF2B5EF4-FFF2-40B4-BE49-F238E27FC236}">
                <a16:creationId xmlns:a16="http://schemas.microsoft.com/office/drawing/2014/main" id="{EDBC9BD5-702D-6EBC-208B-4846ED6B4B6A}"/>
              </a:ext>
            </a:extLst>
          </p:cNvPr>
          <p:cNvSpPr/>
          <p:nvPr/>
        </p:nvSpPr>
        <p:spPr>
          <a:xfrm>
            <a:off x="640080" y="3154680"/>
            <a:ext cx="365760" cy="36576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SI"/>
          </a:p>
        </p:txBody>
      </p:sp>
      <p:sp>
        <p:nvSpPr>
          <p:cNvPr id="10" name="Text 7">
            <a:extLst>
              <a:ext uri="{FF2B5EF4-FFF2-40B4-BE49-F238E27FC236}">
                <a16:creationId xmlns:a16="http://schemas.microsoft.com/office/drawing/2014/main" id="{169CAD6F-E777-6DF5-C69B-F112FCA7693D}"/>
              </a:ext>
            </a:extLst>
          </p:cNvPr>
          <p:cNvSpPr/>
          <p:nvPr/>
        </p:nvSpPr>
        <p:spPr>
          <a:xfrm>
            <a:off x="640080" y="31546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/>
          </a:p>
        </p:txBody>
      </p:sp>
      <p:sp>
        <p:nvSpPr>
          <p:cNvPr id="11" name="Text 8">
            <a:extLst>
              <a:ext uri="{FF2B5EF4-FFF2-40B4-BE49-F238E27FC236}">
                <a16:creationId xmlns:a16="http://schemas.microsoft.com/office/drawing/2014/main" id="{EE8332B9-9FA3-6F0E-4842-66920C680B58}"/>
              </a:ext>
            </a:extLst>
          </p:cNvPr>
          <p:cNvSpPr/>
          <p:nvPr/>
        </p:nvSpPr>
        <p:spPr>
          <a:xfrm>
            <a:off x="1188720" y="3108960"/>
            <a:ext cx="10424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Skupni vzorec: preklop iz fermentacije v respiracijo + reorganizacija RNA-aparata + upočasnitev translacije.</a:t>
            </a:r>
            <a:endParaRPr lang="en-US" sz="1500"/>
          </a:p>
        </p:txBody>
      </p:sp>
      <p:sp>
        <p:nvSpPr>
          <p:cNvPr id="12" name="Shape 9">
            <a:extLst>
              <a:ext uri="{FF2B5EF4-FFF2-40B4-BE49-F238E27FC236}">
                <a16:creationId xmlns:a16="http://schemas.microsoft.com/office/drawing/2014/main" id="{C8E8062A-7630-E9E0-FAD1-BEC1E82D019A}"/>
              </a:ext>
            </a:extLst>
          </p:cNvPr>
          <p:cNvSpPr/>
          <p:nvPr/>
        </p:nvSpPr>
        <p:spPr>
          <a:xfrm>
            <a:off x="640080" y="4023360"/>
            <a:ext cx="365760" cy="36576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SI"/>
          </a:p>
        </p:txBody>
      </p:sp>
      <p:sp>
        <p:nvSpPr>
          <p:cNvPr id="13" name="Text 10">
            <a:extLst>
              <a:ext uri="{FF2B5EF4-FFF2-40B4-BE49-F238E27FC236}">
                <a16:creationId xmlns:a16="http://schemas.microsoft.com/office/drawing/2014/main" id="{963FA927-1E9F-3746-6B7A-895421A75FE8}"/>
              </a:ext>
            </a:extLst>
          </p:cNvPr>
          <p:cNvSpPr/>
          <p:nvPr/>
        </p:nvSpPr>
        <p:spPr>
          <a:xfrm>
            <a:off x="640080" y="40233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/>
          </a:p>
        </p:txBody>
      </p:sp>
      <p:sp>
        <p:nvSpPr>
          <p:cNvPr id="14" name="Text 11">
            <a:extLst>
              <a:ext uri="{FF2B5EF4-FFF2-40B4-BE49-F238E27FC236}">
                <a16:creationId xmlns:a16="http://schemas.microsoft.com/office/drawing/2014/main" id="{D76CCE53-57F3-2297-B509-DD735BFDB72E}"/>
              </a:ext>
            </a:extLst>
          </p:cNvPr>
          <p:cNvSpPr/>
          <p:nvPr/>
        </p:nvSpPr>
        <p:spPr>
          <a:xfrm>
            <a:off x="1188720" y="3977640"/>
            <a:ext cx="10424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Štirje ključni geni (ZNF1, SME1, FMP25, DUS3) predstavljajo kandidatne markerje splošnega stresnega odziva pri S. cerevisiae.</a:t>
            </a:r>
            <a:endParaRPr lang="en-US" sz="1500"/>
          </a:p>
        </p:txBody>
      </p:sp>
      <p:sp>
        <p:nvSpPr>
          <p:cNvPr id="15" name="Shape 12">
            <a:extLst>
              <a:ext uri="{FF2B5EF4-FFF2-40B4-BE49-F238E27FC236}">
                <a16:creationId xmlns:a16="http://schemas.microsoft.com/office/drawing/2014/main" id="{C3961FCE-3FBB-59C4-FD50-81AC5A3AED01}"/>
              </a:ext>
            </a:extLst>
          </p:cNvPr>
          <p:cNvSpPr/>
          <p:nvPr/>
        </p:nvSpPr>
        <p:spPr>
          <a:xfrm>
            <a:off x="0" y="2343"/>
            <a:ext cx="12161520" cy="685800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en-SI"/>
          </a:p>
        </p:txBody>
      </p:sp>
      <p:sp>
        <p:nvSpPr>
          <p:cNvPr id="16" name="Text 13">
            <a:extLst>
              <a:ext uri="{FF2B5EF4-FFF2-40B4-BE49-F238E27FC236}">
                <a16:creationId xmlns:a16="http://schemas.microsoft.com/office/drawing/2014/main" id="{F4094532-07A4-BE19-5F8E-EEF97E2A9468}"/>
              </a:ext>
            </a:extLst>
          </p:cNvPr>
          <p:cNvSpPr/>
          <p:nvPr/>
        </p:nvSpPr>
        <p:spPr>
          <a:xfrm>
            <a:off x="548640" y="2832297"/>
            <a:ext cx="7315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Hvala za pozornost.</a:t>
            </a:r>
            <a:endParaRPr lang="en-US" sz="3600"/>
          </a:p>
        </p:txBody>
      </p:sp>
      <p:sp>
        <p:nvSpPr>
          <p:cNvPr id="17" name="Text 14">
            <a:extLst>
              <a:ext uri="{FF2B5EF4-FFF2-40B4-BE49-F238E27FC236}">
                <a16:creationId xmlns:a16="http://schemas.microsoft.com/office/drawing/2014/main" id="{0859DB72-5D14-8EA4-9F92-4A0F2AB2EC8F}"/>
              </a:ext>
            </a:extLst>
          </p:cNvPr>
          <p:cNvSpPr/>
          <p:nvPr/>
        </p:nvSpPr>
        <p:spPr>
          <a:xfrm>
            <a:off x="7040880" y="5852160"/>
            <a:ext cx="4846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i="1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Aljaž Kos  •  Funkcijska genomika  •  2026</a:t>
            </a:r>
            <a:endParaRPr lang="en-US" sz="1300"/>
          </a:p>
        </p:txBody>
      </p:sp>
    </p:spTree>
    <p:extLst>
      <p:ext uri="{BB962C8B-B14F-4D97-AF65-F5344CB8AC3E}">
        <p14:creationId xmlns:p14="http://schemas.microsoft.com/office/powerpoint/2010/main" val="130092870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173DEDE2626D8C4A9E6EDFF81A325B2D" ma:contentTypeVersion="6" ma:contentTypeDescription="Create a new document." ma:contentTypeScope="" ma:versionID="f929702a09edef86375a9d75dfe0dbc7">
  <xsd:schema xmlns:xsd="http://www.w3.org/2001/XMLSchema" xmlns:xs="http://www.w3.org/2001/XMLSchema" xmlns:p="http://schemas.microsoft.com/office/2006/metadata/properties" xmlns:ns3="594dbca1-ef02-4bb1-935d-576f522ee38e" targetNamespace="http://schemas.microsoft.com/office/2006/metadata/properties" ma:root="true" ma:fieldsID="f9262ad9c9b0feb8b1f307ca564f1f04" ns3:_="">
    <xsd:import namespace="594dbca1-ef02-4bb1-935d-576f522ee38e"/>
    <xsd:element name="properties">
      <xsd:complexType>
        <xsd:sequence>
          <xsd:element name="documentManagement">
            <xsd:complexType>
              <xsd:all>
                <xsd:element ref="ns3:MediaServiceDateTaken" minOccurs="0"/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MediaServiceObjectDetectorVersions" minOccurs="0"/>
                <xsd:element ref="ns3:_activity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94dbca1-ef02-4bb1-935d-576f522ee38e" elementFormDefault="qualified">
    <xsd:import namespace="http://schemas.microsoft.com/office/2006/documentManagement/types"/>
    <xsd:import namespace="http://schemas.microsoft.com/office/infopath/2007/PartnerControls"/>
    <xsd:element name="MediaServiceDateTaken" ma:index="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Metadata" ma:index="9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0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_activity" ma:index="13" nillable="true" ma:displayName="_activity" ma:hidden="true" ma:internalName="_activity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594dbca1-ef02-4bb1-935d-576f522ee38e" xsi:nil="true"/>
  </documentManagement>
</p:properties>
</file>

<file path=customXml/itemProps1.xml><?xml version="1.0" encoding="utf-8"?>
<ds:datastoreItem xmlns:ds="http://schemas.openxmlformats.org/officeDocument/2006/customXml" ds:itemID="{7F0D7471-7619-4D10-98E0-6D3A1CF306AA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D0495D8B-BCCE-40D6-B426-EE04E8E48590}">
  <ds:schemaRefs>
    <ds:schemaRef ds:uri="594dbca1-ef02-4bb1-935d-576f522ee38e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73B4C05F-614C-410D-AAED-4539041C8610}">
  <ds:schemaRefs>
    <ds:schemaRef ds:uri="594dbca1-ef02-4bb1-935d-576f522ee38e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Application>Microsoft Office PowerPoint</Application>
  <PresentationFormat>Widescreen</PresentationFormat>
  <Slides>14</Slides>
  <Notes>14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5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S. cerevisiae - Univerzalni stresni markerji</dc:title>
  <dc:subject>PptxGenJS Presentation</dc:subject>
  <dc:creator>Aljaž Kos</dc:creator>
  <cp:revision>4</cp:revision>
  <dcterms:created xsi:type="dcterms:W3CDTF">2026-05-17T12:51:19Z</dcterms:created>
  <dcterms:modified xsi:type="dcterms:W3CDTF">2026-05-17T23:42:53Z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0x010100173DEDE2626D8C4A9E6EDFF81A325B2D</vt:lpwstr>
  </property>
</Properties>
</file>