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70" r:id="rId15"/>
    <p:sldId id="267" r:id="rId16"/>
    <p:sldId id="268" r:id="rId17"/>
    <p:sldId id="269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746C"/>
    <a:srgbClr val="F200FF"/>
    <a:srgbClr val="00FF55"/>
    <a:srgbClr val="C44B45"/>
    <a:srgbClr val="45C48B"/>
    <a:srgbClr val="45C476"/>
    <a:srgbClr val="0F2E2C"/>
    <a:srgbClr val="0A423E"/>
    <a:srgbClr val="0E615A"/>
    <a:srgbClr val="FFFC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E1FFAE-9906-4764-B40F-CF614FD6980F}" v="54" dt="2026-05-17T15:18:55.852"/>
    <p1510:client id="{62CA925A-946C-7629-6DCC-AC90569C5499}" v="779" dt="2026-05-17T21:01:34.026"/>
    <p1510:client id="{78EE457C-A75F-6F67-A25F-DD6FB8F3B99D}" v="21" dt="2026-05-17T19:06:59.010"/>
    <p1510:client id="{AFDAC490-A86B-9E74-BC72-F49ABE9BEF6E}" v="568" dt="2026-05-17T22:24:06.1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66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E4B4F-336A-678E-F197-A273AF78C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5BE711-AE73-454F-49FD-25431F093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68EC7-AC0F-A6C9-ED8F-4032F563B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D4A37-BE17-2B60-3337-EC8BEE589E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37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BA925-9EF5-81EA-A5DB-394C933C5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EA17C-F81B-B134-3FE1-BB8F8334F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C77F0C-8F7A-1652-70C5-F76E4756A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DF4C4-5B8F-F213-8646-168007EE55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507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1188720"/>
            <a:ext cx="6400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14" name="Picture 13" descr="A group of round objects&#10;&#10;AI-generated content may be incorrect.">
            <a:extLst>
              <a:ext uri="{FF2B5EF4-FFF2-40B4-BE49-F238E27FC236}">
                <a16:creationId xmlns:a16="http://schemas.microsoft.com/office/drawing/2014/main" id="{776D5ABF-EF8A-E67D-B20D-879175BAF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964" y="0"/>
            <a:ext cx="10621202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>
                <a:solidFill>
                  <a:srgbClr val="5EEAD4"/>
                </a:solidFill>
                <a:ea typeface="Calibri" pitchFamily="34" charset="-122"/>
                <a:cs typeface="Calibri" pitchFamily="34" charset="-120"/>
              </a:rPr>
              <a:t>SEMINAR | FUNKCIJSKA GENOMIKA</a:t>
            </a:r>
            <a:endParaRPr lang="en-US" sz="1400"/>
          </a:p>
        </p:txBody>
      </p:sp>
      <p:sp>
        <p:nvSpPr>
          <p:cNvPr id="5" name="Text 2"/>
          <p:cNvSpPr/>
          <p:nvPr/>
        </p:nvSpPr>
        <p:spPr>
          <a:xfrm>
            <a:off x="548640" y="18288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Univerzalni stresni markerji</a:t>
            </a:r>
            <a:endParaRPr lang="en-US" sz="5400"/>
          </a:p>
        </p:txBody>
      </p:sp>
      <p:sp>
        <p:nvSpPr>
          <p:cNvPr id="6" name="Text 3"/>
          <p:cNvSpPr/>
          <p:nvPr/>
        </p:nvSpPr>
        <p:spPr>
          <a:xfrm>
            <a:off x="548640" y="2788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>
                <a:solidFill>
                  <a:srgbClr val="5EEAD4"/>
                </a:solidFill>
                <a:ea typeface="Calibri" pitchFamily="34" charset="-122"/>
                <a:cs typeface="Calibri" pitchFamily="34" charset="-120"/>
              </a:rPr>
              <a:t>pri kvasovki Saccharomyces cerevisiae</a:t>
            </a:r>
            <a:endParaRPr lang="en-US" sz="280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Iskanje genov skupnega odziva v treh stresnih pogojih z uporabo single-cell RNA-seq analize</a:t>
            </a:r>
            <a:endParaRPr lang="en-US" sz="1600"/>
          </a:p>
        </p:txBody>
      </p:sp>
      <p:sp>
        <p:nvSpPr>
          <p:cNvPr id="8" name="Shape 5"/>
          <p:cNvSpPr/>
          <p:nvPr/>
        </p:nvSpPr>
        <p:spPr>
          <a:xfrm>
            <a:off x="548640" y="4937760"/>
            <a:ext cx="36576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9" name="Text 6"/>
          <p:cNvSpPr/>
          <p:nvPr/>
        </p:nvSpPr>
        <p:spPr>
          <a:xfrm>
            <a:off x="731520" y="4937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Aljaž Kos</a:t>
            </a:r>
            <a:r>
              <a:rPr lang="sl-SI" sz="2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Simon Kristl</a:t>
            </a:r>
            <a:endParaRPr lang="en-US" sz="2000"/>
          </a:p>
        </p:txBody>
      </p:sp>
      <p:sp>
        <p:nvSpPr>
          <p:cNvPr id="10" name="Text 7"/>
          <p:cNvSpPr/>
          <p:nvPr/>
        </p:nvSpPr>
        <p:spPr>
          <a:xfrm>
            <a:off x="7315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 •  3. letnik</a:t>
            </a:r>
            <a:endParaRPr lang="en-US" sz="1300"/>
          </a:p>
        </p:txBody>
      </p:sp>
      <p:sp>
        <p:nvSpPr>
          <p:cNvPr id="11" name="Text 8"/>
          <p:cNvSpPr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GEO: GSE201386 </a:t>
            </a:r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UVOD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l-SI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Zastava eksperimenta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genske ekspresije omogoča vpogled v spremembe izražanja genov glede na okoljske spremembe.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Vprašanje:</a:t>
            </a:r>
            <a:endParaRPr lang="en-US" sz="1400" b="1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Kateri geni se diferencialno izražajo v vseh treh stresnih pogojih pri kvasovki S. cerevisiae?</a:t>
            </a:r>
            <a:endParaRPr lang="en-US" sz="1600" b="1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Cilj: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4251960"/>
            <a:ext cx="5943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Razkriti skupne molekularne mehanizme celičnega odziva na stres — gene, ki delujejo neodvisno od tipa stresorja.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6949440" y="1554480"/>
            <a:ext cx="46634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11" name="Text 9"/>
          <p:cNvSpPr/>
          <p:nvPr/>
        </p:nvSpPr>
        <p:spPr>
          <a:xfrm>
            <a:off x="7223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EKSPERIMENTALNI POGOJI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7269480" y="2331720"/>
            <a:ext cx="594360" cy="594360"/>
          </a:xfrm>
          <a:prstGeom prst="ellipse">
            <a:avLst/>
          </a:prstGeom>
          <a:solidFill>
            <a:srgbClr val="0E615A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2" y="2450592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001000" y="231343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Kontrola (izotonično)</a:t>
            </a:r>
            <a:endParaRPr lang="en-US" sz="1400"/>
          </a:p>
        </p:txBody>
      </p:sp>
      <p:sp>
        <p:nvSpPr>
          <p:cNvPr id="15" name="Text 12"/>
          <p:cNvSpPr/>
          <p:nvPr/>
        </p:nvSpPr>
        <p:spPr>
          <a:xfrm>
            <a:off x="8001000" y="262432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standardni pogoji  •  38 celic</a:t>
            </a:r>
            <a:endParaRPr lang="en-US" sz="1100"/>
          </a:p>
        </p:txBody>
      </p:sp>
      <p:sp>
        <p:nvSpPr>
          <p:cNvPr id="16" name="Shape 13"/>
          <p:cNvSpPr/>
          <p:nvPr/>
        </p:nvSpPr>
        <p:spPr>
          <a:xfrm>
            <a:off x="7269480" y="3246120"/>
            <a:ext cx="594360" cy="59436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2" y="3364992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01000" y="322783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Hipotonično okolje</a:t>
            </a:r>
            <a:endParaRPr lang="en-US" sz="1400"/>
          </a:p>
        </p:txBody>
      </p:sp>
      <p:sp>
        <p:nvSpPr>
          <p:cNvPr id="19" name="Text 15"/>
          <p:cNvSpPr/>
          <p:nvPr/>
        </p:nvSpPr>
        <p:spPr>
          <a:xfrm>
            <a:off x="8001000" y="353872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celica nabrekne  •  12 celic</a:t>
            </a:r>
            <a:endParaRPr lang="en-US" sz="1100"/>
          </a:p>
        </p:txBody>
      </p:sp>
      <p:sp>
        <p:nvSpPr>
          <p:cNvPr id="20" name="Shape 16"/>
          <p:cNvSpPr/>
          <p:nvPr/>
        </p:nvSpPr>
        <p:spPr>
          <a:xfrm>
            <a:off x="7269480" y="4160520"/>
            <a:ext cx="594360" cy="5943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2" name="Text 17"/>
          <p:cNvSpPr/>
          <p:nvPr/>
        </p:nvSpPr>
        <p:spPr>
          <a:xfrm>
            <a:off x="8001000" y="414223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Stradanje aminokislin</a:t>
            </a:r>
            <a:endParaRPr lang="en-US" sz="1400"/>
          </a:p>
        </p:txBody>
      </p:sp>
      <p:sp>
        <p:nvSpPr>
          <p:cNvPr id="23" name="Text 18"/>
          <p:cNvSpPr/>
          <p:nvPr/>
        </p:nvSpPr>
        <p:spPr>
          <a:xfrm>
            <a:off x="8001000" y="445312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brez gradnikov za proteine  •  20 celic</a:t>
            </a:r>
            <a:endParaRPr lang="en-US" sz="1100"/>
          </a:p>
        </p:txBody>
      </p:sp>
      <p:sp>
        <p:nvSpPr>
          <p:cNvPr id="24" name="Shape 19"/>
          <p:cNvSpPr/>
          <p:nvPr/>
        </p:nvSpPr>
        <p:spPr>
          <a:xfrm>
            <a:off x="7269480" y="5074920"/>
            <a:ext cx="594360" cy="5943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2" y="5193792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001000" y="505663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Stradanje glukoze</a:t>
            </a:r>
            <a:endParaRPr lang="en-US" sz="1400"/>
          </a:p>
        </p:txBody>
      </p:sp>
      <p:sp>
        <p:nvSpPr>
          <p:cNvPr id="27" name="Text 21"/>
          <p:cNvSpPr/>
          <p:nvPr/>
        </p:nvSpPr>
        <p:spPr>
          <a:xfrm>
            <a:off x="8001000" y="536752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brez vira energije  •  47 celic</a:t>
            </a:r>
            <a:endParaRPr lang="en-US" sz="1100"/>
          </a:p>
        </p:txBody>
      </p:sp>
      <p:sp>
        <p:nvSpPr>
          <p:cNvPr id="28" name="Shape 2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9" name="Shape 23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0" name="Text 24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/>
          </a:p>
        </p:txBody>
      </p:sp>
      <p:sp>
        <p:nvSpPr>
          <p:cNvPr id="31" name="Text 25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Simon Kristl</a:t>
            </a:r>
            <a:endParaRPr lang="en-US" sz="100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2" name="Text 26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  <p:pic>
        <p:nvPicPr>
          <p:cNvPr id="33" name="Graphic 32" descr="Single gear with solid fill">
            <a:extLst>
              <a:ext uri="{FF2B5EF4-FFF2-40B4-BE49-F238E27FC236}">
                <a16:creationId xmlns:a16="http://schemas.microsoft.com/office/drawing/2014/main" id="{31DFA4AA-9499-1347-7DDA-04EE056954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23666" y="4228857"/>
            <a:ext cx="482480" cy="4596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 &amp; VZORCI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Podatki</a:t>
            </a:r>
            <a:r>
              <a:rPr lang="en-US" sz="3000" b="1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n-US" sz="3000" b="1" dirty="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enoceli</a:t>
            </a:r>
            <a:r>
              <a:rPr lang="sl-SI" sz="3000" b="1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čen</a:t>
            </a:r>
            <a:r>
              <a:rPr lang="en-US" sz="3000" b="1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RNA-se</a:t>
            </a:r>
            <a:r>
              <a:rPr lang="sl-SI" sz="3000" b="1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</a:t>
            </a:r>
            <a:r>
              <a:rPr lang="en-US" sz="3000" b="1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- GSE201386</a:t>
            </a:r>
            <a:endParaRPr lang="en-US" sz="30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79192" cy="155448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79192" cy="73152"/>
          </a:xfrm>
          <a:prstGeom prst="rect">
            <a:avLst/>
          </a:prstGeom>
          <a:solidFill>
            <a:srgbClr val="0E615A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24048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500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posameznih celic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3346704" y="1691640"/>
            <a:ext cx="2679192" cy="155448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10" name="Shape 8"/>
          <p:cNvSpPr/>
          <p:nvPr/>
        </p:nvSpPr>
        <p:spPr>
          <a:xfrm>
            <a:off x="3346704" y="1691640"/>
            <a:ext cx="2679192" cy="73152"/>
          </a:xfrm>
          <a:prstGeom prst="rect">
            <a:avLst/>
          </a:prstGeom>
          <a:solidFill>
            <a:srgbClr val="0E615A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1" name="Text 9"/>
          <p:cNvSpPr/>
          <p:nvPr/>
        </p:nvSpPr>
        <p:spPr>
          <a:xfrm>
            <a:off x="3483864" y="1874520"/>
            <a:ext cx="24048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~6000</a:t>
            </a:r>
            <a:endParaRPr lang="en-US" sz="4000"/>
          </a:p>
        </p:txBody>
      </p:sp>
      <p:sp>
        <p:nvSpPr>
          <p:cNvPr id="12" name="Text 10"/>
          <p:cNvSpPr/>
          <p:nvPr/>
        </p:nvSpPr>
        <p:spPr>
          <a:xfrm>
            <a:off x="3483864" y="288036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izmerjenih genov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6144768" y="1691640"/>
            <a:ext cx="2679192" cy="155448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14" name="Shape 12"/>
          <p:cNvSpPr/>
          <p:nvPr/>
        </p:nvSpPr>
        <p:spPr>
          <a:xfrm>
            <a:off x="6144768" y="1691640"/>
            <a:ext cx="2679192" cy="73152"/>
          </a:xfrm>
          <a:prstGeom prst="rect">
            <a:avLst/>
          </a:prstGeom>
          <a:solidFill>
            <a:srgbClr val="0E615A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5" name="Text 13"/>
          <p:cNvSpPr/>
          <p:nvPr/>
        </p:nvSpPr>
        <p:spPr>
          <a:xfrm>
            <a:off x="6281928" y="1874520"/>
            <a:ext cx="24048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/>
          </a:p>
        </p:txBody>
      </p:sp>
      <p:sp>
        <p:nvSpPr>
          <p:cNvPr id="16" name="Text 14"/>
          <p:cNvSpPr/>
          <p:nvPr/>
        </p:nvSpPr>
        <p:spPr>
          <a:xfrm>
            <a:off x="6281928" y="288036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eksperimentalni pogoji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5486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Število celic na pogoj</a:t>
            </a:r>
            <a:endParaRPr lang="en-US" sz="140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185389"/>
              </p:ext>
            </p:extLst>
          </p:nvPr>
        </p:nvGraphicFramePr>
        <p:xfrm>
          <a:off x="548640" y="3931920"/>
          <a:ext cx="6400800" cy="182880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Pogoj</a:t>
                      </a:r>
                      <a:endParaRPr lang="en-US" sz="120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1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Serije</a:t>
                      </a:r>
                      <a:endParaRPr lang="en-US" sz="120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1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Število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200" b="1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celic</a:t>
                      </a:r>
                      <a:endParaRPr lang="en-US" sz="120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1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err="1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Kontrola</a:t>
                      </a:r>
                      <a:r>
                        <a:rPr lang="en-US" sz="120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 (</a:t>
                      </a:r>
                      <a:r>
                        <a:rPr lang="en-US" sz="1200" err="1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izotonično</a:t>
                      </a:r>
                      <a:r>
                        <a:rPr lang="en-US" sz="120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E, G, Y700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err="1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Hipotonično</a:t>
                      </a:r>
                      <a:endParaRPr lang="en-US" sz="120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C, F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err="1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Stradanje</a:t>
                      </a:r>
                      <a:r>
                        <a:rPr lang="en-US" sz="120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200" err="1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aminokislin</a:t>
                      </a:r>
                      <a:endParaRPr lang="en-US" sz="120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err="1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Stradanje</a:t>
                      </a:r>
                      <a:r>
                        <a:rPr lang="en-US" sz="120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200" err="1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glukoze</a:t>
                      </a:r>
                      <a:endParaRPr lang="en-US" sz="120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Y200, Y500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269480" y="3925250"/>
            <a:ext cx="4283869" cy="2213612"/>
          </a:xfrm>
          <a:prstGeom prst="rect">
            <a:avLst/>
          </a:prstGeom>
          <a:solidFill>
            <a:srgbClr val="0A423E"/>
          </a:solidFill>
          <a:ln w="12700">
            <a:noFill/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26" name="Text 22"/>
          <p:cNvSpPr/>
          <p:nvPr/>
        </p:nvSpPr>
        <p:spPr>
          <a:xfrm>
            <a:off x="7543800" y="4081462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Saccharomyces cerevisiae</a:t>
            </a:r>
            <a:endParaRPr lang="en-US" sz="1800"/>
          </a:p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Pekovski kvas  •  sev S288C</a:t>
            </a:r>
            <a:endParaRPr lang="en-US" sz="1800"/>
          </a:p>
        </p:txBody>
      </p:sp>
      <p:sp>
        <p:nvSpPr>
          <p:cNvPr id="27" name="Shape 23"/>
          <p:cNvSpPr/>
          <p:nvPr/>
        </p:nvSpPr>
        <p:spPr>
          <a:xfrm>
            <a:off x="7543800" y="4950143"/>
            <a:ext cx="3794760" cy="1828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8" name="Text 24"/>
          <p:cNvSpPr/>
          <p:nvPr/>
        </p:nvSpPr>
        <p:spPr>
          <a:xfrm>
            <a:off x="7543800" y="508730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</a:t>
            </a:r>
            <a:endParaRPr lang="en-US" sz="10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Single-cell RNA-seq  •  1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celica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vzorec</a:t>
            </a:r>
            <a:endParaRPr lang="en-US" sz="1000" dirty="0"/>
          </a:p>
          <a:p>
            <a:pPr marL="0" indent="0">
              <a:buNone/>
            </a:pPr>
            <a:r>
              <a:rPr lang="en-US" sz="10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VHODNA MATRIKA</a:t>
            </a:r>
            <a:endParaRPr lang="en-US" sz="10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~6000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genov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117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celic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0" name="Shape 26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1" name="Text 27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/>
          </a:p>
        </p:txBody>
      </p:sp>
      <p:sp>
        <p:nvSpPr>
          <p:cNvPr id="32" name="Text 28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3" name="Text 29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E59659AB-EE1A-42FB-7F89-A21FEC7616A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 flipH="1">
            <a:off x="11059479" y="4079079"/>
            <a:ext cx="273842" cy="2738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| DESEQ2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diferencialne ekspresije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70048" cy="91440"/>
          </a:xfrm>
          <a:prstGeom prst="rect">
            <a:avLst/>
          </a:prstGeom>
          <a:solidFill>
            <a:srgbClr val="0F746C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7" name="Shape 5"/>
          <p:cNvSpPr/>
          <p:nvPr/>
        </p:nvSpPr>
        <p:spPr>
          <a:xfrm>
            <a:off x="1517904" y="2011680"/>
            <a:ext cx="731520" cy="731520"/>
          </a:xfrm>
          <a:prstGeom prst="ellipse">
            <a:avLst/>
          </a:prstGeom>
          <a:solidFill>
            <a:srgbClr val="FEF9EE"/>
          </a:solidFill>
          <a:ln w="190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064" y="21488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83464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Matrika</a:t>
            </a:r>
            <a:endParaRPr lang="en-US" sz="1500"/>
          </a:p>
        </p:txBody>
      </p:sp>
      <p:sp>
        <p:nvSpPr>
          <p:cNvPr id="10" name="Text 7"/>
          <p:cNvSpPr/>
          <p:nvPr/>
        </p:nvSpPr>
        <p:spPr>
          <a:xfrm>
            <a:off x="731520" y="32004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Združitev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117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datotek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ekspresijsko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6000 × 117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83280" y="169164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12" name="Shape 9"/>
          <p:cNvSpPr/>
          <p:nvPr/>
        </p:nvSpPr>
        <p:spPr>
          <a:xfrm>
            <a:off x="3383280" y="1691640"/>
            <a:ext cx="2670048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3" name="Shape 10"/>
          <p:cNvSpPr/>
          <p:nvPr/>
        </p:nvSpPr>
        <p:spPr>
          <a:xfrm>
            <a:off x="4352544" y="2011680"/>
            <a:ext cx="731520" cy="731520"/>
          </a:xfrm>
          <a:prstGeom prst="ellipse">
            <a:avLst/>
          </a:prstGeom>
          <a:solidFill>
            <a:srgbClr val="FEF9EE"/>
          </a:solidFill>
          <a:ln w="190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9704" y="214884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66160" y="283464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DESeq2</a:t>
            </a:r>
            <a:endParaRPr lang="en-US" sz="1500"/>
          </a:p>
        </p:txBody>
      </p:sp>
      <p:sp>
        <p:nvSpPr>
          <p:cNvPr id="16" name="Text 12"/>
          <p:cNvSpPr/>
          <p:nvPr/>
        </p:nvSpPr>
        <p:spPr>
          <a:xfrm>
            <a:off x="3566160" y="32004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Statistični test razlike v ekspresiji glede na kontrolo</a:t>
            </a:r>
            <a:endParaRPr lang="en-US" sz="1200"/>
          </a:p>
        </p:txBody>
      </p:sp>
      <p:sp>
        <p:nvSpPr>
          <p:cNvPr id="17" name="Shape 13"/>
          <p:cNvSpPr/>
          <p:nvPr/>
        </p:nvSpPr>
        <p:spPr>
          <a:xfrm>
            <a:off x="6217920" y="169164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18" name="Shape 14"/>
          <p:cNvSpPr/>
          <p:nvPr/>
        </p:nvSpPr>
        <p:spPr>
          <a:xfrm>
            <a:off x="6217920" y="1691640"/>
            <a:ext cx="2670048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9" name="Shape 15"/>
          <p:cNvSpPr/>
          <p:nvPr/>
        </p:nvSpPr>
        <p:spPr>
          <a:xfrm>
            <a:off x="7187184" y="2011680"/>
            <a:ext cx="731520" cy="731520"/>
          </a:xfrm>
          <a:prstGeom prst="ellipse">
            <a:avLst/>
          </a:prstGeom>
          <a:solidFill>
            <a:srgbClr val="FEF9EE"/>
          </a:solidFill>
          <a:ln w="190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344" y="214884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00800" y="283464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Filtriranje</a:t>
            </a:r>
            <a:endParaRPr lang="en-US" sz="1500"/>
          </a:p>
        </p:txBody>
      </p:sp>
      <p:sp>
        <p:nvSpPr>
          <p:cNvPr id="22" name="Text 17"/>
          <p:cNvSpPr/>
          <p:nvPr/>
        </p:nvSpPr>
        <p:spPr>
          <a:xfrm>
            <a:off x="6400800" y="32004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padj &lt; 0.05  in  |log2FC| &gt; 1 (vsaj 2× sprememba)</a:t>
            </a:r>
            <a:endParaRPr lang="en-US" sz="1200"/>
          </a:p>
        </p:txBody>
      </p:sp>
      <p:sp>
        <p:nvSpPr>
          <p:cNvPr id="23" name="Shape 18"/>
          <p:cNvSpPr/>
          <p:nvPr/>
        </p:nvSpPr>
        <p:spPr>
          <a:xfrm>
            <a:off x="9052560" y="1691640"/>
            <a:ext cx="267004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24" name="Shape 19"/>
          <p:cNvSpPr/>
          <p:nvPr/>
        </p:nvSpPr>
        <p:spPr>
          <a:xfrm>
            <a:off x="9052560" y="1691640"/>
            <a:ext cx="2670048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5" name="Shape 20"/>
          <p:cNvSpPr/>
          <p:nvPr/>
        </p:nvSpPr>
        <p:spPr>
          <a:xfrm>
            <a:off x="10021824" y="2011680"/>
            <a:ext cx="731520" cy="731520"/>
          </a:xfrm>
          <a:prstGeom prst="ellipse">
            <a:avLst/>
          </a:prstGeom>
          <a:solidFill>
            <a:srgbClr val="FEF9EE"/>
          </a:solidFill>
          <a:ln w="1905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58984" y="214884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235440" y="283464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Presek</a:t>
            </a:r>
            <a:endParaRPr lang="en-US" sz="1500"/>
          </a:p>
        </p:txBody>
      </p:sp>
      <p:sp>
        <p:nvSpPr>
          <p:cNvPr id="28" name="Text 22"/>
          <p:cNvSpPr/>
          <p:nvPr/>
        </p:nvSpPr>
        <p:spPr>
          <a:xfrm>
            <a:off x="9235440" y="32004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 signifikantni v vseh treh stresnih pogojih hkrati</a:t>
            </a:r>
            <a:endParaRPr lang="en-US" sz="1200"/>
          </a:p>
        </p:txBody>
      </p:sp>
      <p:sp>
        <p:nvSpPr>
          <p:cNvPr id="29" name="Text 23"/>
          <p:cNvSpPr/>
          <p:nvPr/>
        </p:nvSpPr>
        <p:spPr>
          <a:xfrm>
            <a:off x="3255264" y="2651760"/>
            <a:ext cx="109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</a:t>
            </a:r>
            <a:endParaRPr lang="en-US" sz="2000"/>
          </a:p>
        </p:txBody>
      </p:sp>
      <p:sp>
        <p:nvSpPr>
          <p:cNvPr id="30" name="Text 24"/>
          <p:cNvSpPr/>
          <p:nvPr/>
        </p:nvSpPr>
        <p:spPr>
          <a:xfrm>
            <a:off x="6089904" y="2651760"/>
            <a:ext cx="109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</a:t>
            </a:r>
            <a:endParaRPr lang="en-US" sz="2000"/>
          </a:p>
        </p:txBody>
      </p:sp>
      <p:sp>
        <p:nvSpPr>
          <p:cNvPr id="31" name="Text 25"/>
          <p:cNvSpPr/>
          <p:nvPr/>
        </p:nvSpPr>
        <p:spPr>
          <a:xfrm>
            <a:off x="8924544" y="2651760"/>
            <a:ext cx="109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&gt;</a:t>
            </a:r>
            <a:endParaRPr lang="en-US" sz="2000"/>
          </a:p>
        </p:txBody>
      </p:sp>
      <p:sp>
        <p:nvSpPr>
          <p:cNvPr id="32" name="Shape 26"/>
          <p:cNvSpPr/>
          <p:nvPr/>
        </p:nvSpPr>
        <p:spPr>
          <a:xfrm>
            <a:off x="548640" y="4343400"/>
            <a:ext cx="11064240" cy="1691640"/>
          </a:xfrm>
          <a:prstGeom prst="rect">
            <a:avLst/>
          </a:prstGeom>
          <a:solidFill>
            <a:srgbClr val="0A423E"/>
          </a:solidFill>
          <a:ln w="12700">
            <a:noFill/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3" name="Text 27"/>
          <p:cNvSpPr/>
          <p:nvPr/>
        </p:nvSpPr>
        <p:spPr>
          <a:xfrm>
            <a:off x="82296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REZULTATI ZA VSAK GEN:</a:t>
            </a:r>
            <a:endParaRPr lang="en-US" sz="1100"/>
          </a:p>
        </p:txBody>
      </p:sp>
      <p:sp>
        <p:nvSpPr>
          <p:cNvPr id="34" name="Text 28"/>
          <p:cNvSpPr/>
          <p:nvPr/>
        </p:nvSpPr>
        <p:spPr>
          <a:xfrm>
            <a:off x="822960" y="4892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log2FC</a:t>
            </a:r>
            <a:endParaRPr lang="en-US" sz="2200"/>
          </a:p>
        </p:txBody>
      </p:sp>
      <p:sp>
        <p:nvSpPr>
          <p:cNvPr id="35" name="Text 29"/>
          <p:cNvSpPr/>
          <p:nvPr/>
        </p:nvSpPr>
        <p:spPr>
          <a:xfrm>
            <a:off x="822960" y="5303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Velikost</a:t>
            </a:r>
            <a:r>
              <a:rPr lang="en-US" sz="1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spremembe</a:t>
            </a:r>
            <a:r>
              <a:rPr lang="en-US" sz="1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ekspresije</a:t>
            </a:r>
            <a:r>
              <a:rPr lang="en-US" sz="1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(log2FC = 1 → 2×, log2FC = -1 → 0,5×)</a:t>
            </a:r>
          </a:p>
        </p:txBody>
      </p:sp>
      <p:sp>
        <p:nvSpPr>
          <p:cNvPr id="36" name="Shape 30"/>
          <p:cNvSpPr/>
          <p:nvPr/>
        </p:nvSpPr>
        <p:spPr>
          <a:xfrm>
            <a:off x="6126480" y="4709160"/>
            <a:ext cx="18288" cy="9601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7" name="Text 31"/>
          <p:cNvSpPr/>
          <p:nvPr/>
        </p:nvSpPr>
        <p:spPr>
          <a:xfrm>
            <a:off x="6400800" y="4892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padj</a:t>
            </a:r>
            <a:endParaRPr lang="en-US" sz="2200"/>
          </a:p>
        </p:txBody>
      </p:sp>
      <p:sp>
        <p:nvSpPr>
          <p:cNvPr id="38" name="Text 32"/>
          <p:cNvSpPr/>
          <p:nvPr/>
        </p:nvSpPr>
        <p:spPr>
          <a:xfrm>
            <a:off x="6400800" y="53035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Statistična</a:t>
            </a:r>
            <a:r>
              <a:rPr lang="en-US" sz="1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značilnost</a:t>
            </a:r>
            <a:r>
              <a:rPr lang="en-US" sz="1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po BH </a:t>
            </a:r>
            <a:r>
              <a:rPr lang="en-US" sz="120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korekciji</a:t>
            </a:r>
            <a:r>
              <a:rPr lang="en-US" sz="1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120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padj</a:t>
            </a:r>
            <a:r>
              <a:rPr lang="en-US" sz="1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&lt; 0,05 = </a:t>
            </a:r>
            <a:r>
              <a:rPr lang="en-US" sz="120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signifikantno</a:t>
            </a:r>
            <a:r>
              <a:rPr lang="en-US" sz="1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39" name="Shape 3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40" name="Shape 34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41" name="Text 35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/>
          </a:p>
        </p:txBody>
      </p:sp>
      <p:sp>
        <p:nvSpPr>
          <p:cNvPr id="42" name="Text 36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3" name="Text 37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REZULTATI | DESEQ2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Diferencialno izraženi geni (DEG) po pogojih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82296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09728" cy="8229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383</a:t>
            </a:r>
            <a:endParaRPr lang="en-US" sz="3000"/>
          </a:p>
        </p:txBody>
      </p:sp>
      <p:sp>
        <p:nvSpPr>
          <p:cNvPr id="8" name="Text 6"/>
          <p:cNvSpPr/>
          <p:nvPr/>
        </p:nvSpPr>
        <p:spPr>
          <a:xfrm>
            <a:off x="237744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err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Hipotonično</a:t>
            </a:r>
            <a:r>
              <a:rPr lang="en-US" sz="1400" b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 vs. </a:t>
            </a:r>
            <a:r>
              <a:rPr lang="en-US" sz="1400" b="1" err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kontrola</a:t>
            </a:r>
            <a:endParaRPr lang="en-US" sz="1400" err="1">
              <a:solidFill>
                <a:schemeClr val="tx1">
                  <a:lumMod val="76000"/>
                  <a:lumOff val="24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5486400" cy="82296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109728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2 487</a:t>
            </a:r>
            <a:endParaRPr lang="en-US" sz="3000"/>
          </a:p>
        </p:txBody>
      </p:sp>
      <p:sp>
        <p:nvSpPr>
          <p:cNvPr id="12" name="Text 10"/>
          <p:cNvSpPr/>
          <p:nvPr/>
        </p:nvSpPr>
        <p:spPr>
          <a:xfrm>
            <a:off x="2377440" y="2697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err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Stradanje</a:t>
            </a:r>
            <a:r>
              <a:rPr lang="en-US" sz="1400" b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b="1" err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aminokislin</a:t>
            </a:r>
            <a:r>
              <a:rPr lang="en-US" sz="1400" b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 vs. </a:t>
            </a:r>
            <a:r>
              <a:rPr lang="en-US" sz="1400" b="1" err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kontrola</a:t>
            </a:r>
            <a:endParaRPr lang="en-US" sz="1400" err="1">
              <a:solidFill>
                <a:schemeClr val="tx1">
                  <a:lumMod val="76000"/>
                  <a:lumOff val="24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5486400" cy="82296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9728" cy="8229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5" name="Text 13"/>
          <p:cNvSpPr/>
          <p:nvPr/>
        </p:nvSpPr>
        <p:spPr>
          <a:xfrm>
            <a:off x="777240" y="3657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3 056</a:t>
            </a:r>
            <a:endParaRPr lang="en-US" sz="3000"/>
          </a:p>
        </p:txBody>
      </p:sp>
      <p:sp>
        <p:nvSpPr>
          <p:cNvPr id="16" name="Text 14"/>
          <p:cNvSpPr/>
          <p:nvPr/>
        </p:nvSpPr>
        <p:spPr>
          <a:xfrm>
            <a:off x="2377440" y="3657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err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Stradanje</a:t>
            </a:r>
            <a:r>
              <a:rPr lang="en-US" sz="1400" b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b="1" err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glukoze</a:t>
            </a:r>
            <a:r>
              <a:rPr lang="en-US" sz="1400" b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 vs. </a:t>
            </a:r>
            <a:r>
              <a:rPr lang="en-US" sz="1400" b="1" err="1">
                <a:solidFill>
                  <a:schemeClr val="tx1">
                    <a:lumMod val="76000"/>
                    <a:lumOff val="24000"/>
                  </a:schemeClr>
                </a:solidFill>
                <a:latin typeface="Calibri"/>
                <a:ea typeface="Calibri"/>
                <a:cs typeface="Calibri"/>
              </a:rPr>
              <a:t>kontrola</a:t>
            </a:r>
            <a:endParaRPr lang="en-US" sz="1400" err="1">
              <a:solidFill>
                <a:schemeClr val="tx1">
                  <a:lumMod val="76000"/>
                  <a:lumOff val="24000"/>
                </a:scheme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39" y="4689157"/>
            <a:ext cx="3593307" cy="1296354"/>
          </a:xfrm>
          <a:prstGeom prst="rect">
            <a:avLst/>
          </a:prstGeom>
          <a:solidFill>
            <a:srgbClr val="FEF9EE"/>
          </a:solidFill>
          <a:ln w="12700">
            <a:noFill/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18" name="Shape 16"/>
          <p:cNvSpPr/>
          <p:nvPr/>
        </p:nvSpPr>
        <p:spPr>
          <a:xfrm>
            <a:off x="548640" y="4689157"/>
            <a:ext cx="216884" cy="1296354"/>
          </a:xfrm>
          <a:prstGeom prst="rect">
            <a:avLst/>
          </a:prstGeom>
          <a:solidFill>
            <a:srgbClr val="0A423E"/>
          </a:solidFill>
          <a:ln w="12700">
            <a:noFill/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9" name="Text 17"/>
          <p:cNvSpPr/>
          <p:nvPr/>
        </p:nvSpPr>
        <p:spPr>
          <a:xfrm>
            <a:off x="967740" y="4685348"/>
            <a:ext cx="1677829" cy="1303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>
                <a:solidFill>
                  <a:srgbClr val="0A423E"/>
                </a:solidFill>
                <a:latin typeface="Calibri"/>
                <a:ea typeface="Calibri"/>
                <a:cs typeface="Calibri"/>
              </a:rPr>
              <a:t>150</a:t>
            </a:r>
            <a:endParaRPr lang="en-US" sz="5600">
              <a:solidFill>
                <a:srgbClr val="0A423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582227" y="5084921"/>
            <a:ext cx="3827621" cy="545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0A423E"/>
                </a:solidFill>
                <a:latin typeface="Calibri"/>
                <a:ea typeface="Calibri"/>
                <a:cs typeface="Calibri"/>
              </a:rPr>
              <a:t>V </a:t>
            </a:r>
            <a:r>
              <a:rPr lang="en-US" sz="2000" b="1" err="1">
                <a:solidFill>
                  <a:srgbClr val="0A423E"/>
                </a:solidFill>
                <a:latin typeface="Calibri"/>
                <a:ea typeface="Calibri"/>
                <a:cs typeface="Calibri"/>
              </a:rPr>
              <a:t>vseh</a:t>
            </a:r>
            <a:endParaRPr lang="en-US" sz="2000" b="1">
              <a:solidFill>
                <a:srgbClr val="0A423E"/>
              </a:solidFill>
              <a:ea typeface="Calibri"/>
              <a:cs typeface="Calibri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0080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Vennov diagram preseka DEG</a:t>
            </a:r>
            <a:endParaRPr lang="en-US" sz="1200"/>
          </a:p>
        </p:txBody>
      </p:sp>
      <p:pic>
        <p:nvPicPr>
          <p:cNvPr id="23" name="Image 0" descr="/sessions/jolly-blissful-dijkstra/mnt/outputs/img/venn.png"/>
          <p:cNvPicPr>
            <a:picLocks noChangeAspect="1"/>
          </p:cNvPicPr>
          <p:nvPr/>
        </p:nvPicPr>
        <p:blipFill>
          <a:blip r:embed="rId3"/>
          <a:srcRect l="7947" t="738" r="-1236" b="-1676"/>
          <a:stretch>
            <a:fillRect/>
          </a:stretch>
        </p:blipFill>
        <p:spPr>
          <a:xfrm>
            <a:off x="6829425" y="1904238"/>
            <a:ext cx="5032921" cy="4061075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5" name="Shape 22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6" name="Text 23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/>
          </a:p>
        </p:txBody>
      </p:sp>
      <p:sp>
        <p:nvSpPr>
          <p:cNvPr id="27" name="Text 24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/>
          </a:p>
        </p:txBody>
      </p:sp>
      <p:sp>
        <p:nvSpPr>
          <p:cNvPr id="28" name="Text 25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REZULTATI | SKUPNI ODZIV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skupnih DEG-ov: heatmap log2FC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1148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1148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7" name="Image 0" descr="Bar chart with solid fil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9202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901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Kaj prikazuje?</a:t>
            </a:r>
            <a:endParaRPr lang="en-US" sz="1600"/>
          </a:p>
        </p:txBody>
      </p:sp>
      <p:sp>
        <p:nvSpPr>
          <p:cNvPr id="9" name="Text 6"/>
          <p:cNvSpPr/>
          <p:nvPr/>
        </p:nvSpPr>
        <p:spPr>
          <a:xfrm>
            <a:off x="777240" y="24688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Vrstice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= top 20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skupnih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DEG-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ov</a:t>
            </a:r>
            <a:endParaRPr lang="en-US" sz="1300" err="1">
              <a:latin typeface="Calibri"/>
              <a:ea typeface="Calibri"/>
              <a:cs typeface="Calibri"/>
            </a:endParaRPr>
          </a:p>
          <a:p>
            <a:pPr>
              <a:spcAft>
                <a:spcPts val="800"/>
              </a:spcAft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Simboli = 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vsak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predstavlj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različen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stresni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pogoj</a:t>
            </a:r>
            <a:endParaRPr lang="en-US" sz="1300" err="1">
              <a:latin typeface="Calibri"/>
              <a:ea typeface="Calibri"/>
              <a:cs typeface="Calibri"/>
            </a:endParaRPr>
          </a:p>
          <a:p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Premik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=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levo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zmanjšana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transkripcija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/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desno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povečana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transkripcija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glede 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3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kontrolo</a:t>
            </a:r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3657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1" name="Text 8"/>
          <p:cNvSpPr/>
          <p:nvPr/>
        </p:nvSpPr>
        <p:spPr>
          <a:xfrm>
            <a:off x="777240" y="4297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OPAŽANJE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777240" y="4645152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Namerno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puščeni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so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bili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odmiki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v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različne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smeri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, za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prikaz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kontrasta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stresnih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odzivov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 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Kljub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temu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vseeno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vidimo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v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redkih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primerih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pozitivno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modulacijo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v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vseh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treh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i="1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primerih</a:t>
            </a:r>
            <a:r>
              <a:rPr lang="en-US" sz="13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Shape 10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5" name="Shape 11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6" name="Text 12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/>
          </a:p>
        </p:txBody>
      </p:sp>
      <p:sp>
        <p:nvSpPr>
          <p:cNvPr id="17" name="Text 13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/>
          </a:p>
        </p:txBody>
      </p:sp>
      <p:sp>
        <p:nvSpPr>
          <p:cNvPr id="18" name="Text 14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C9898E1-0CDF-6FAC-0DC6-3FCADF8599C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478" r="48"/>
          <a:stretch>
            <a:fillRect/>
          </a:stretch>
        </p:blipFill>
        <p:spPr>
          <a:xfrm>
            <a:off x="5102352" y="1679312"/>
            <a:ext cx="6416007" cy="4619242"/>
          </a:xfrm>
          <a:prstGeom prst="rect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REZULTATI | FUNKCIJSKA ANALIZA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Enrichment: obogateni biološki procesi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5" name="Image 0" descr="/sessions/jolly-blissful-dijkstra/mnt/outputs/img/go_b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554480"/>
            <a:ext cx="576072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691640"/>
            <a:ext cx="5029200" cy="10058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7" name="Shape 4"/>
          <p:cNvSpPr/>
          <p:nvPr/>
        </p:nvSpPr>
        <p:spPr>
          <a:xfrm>
            <a:off x="6583680" y="1691640"/>
            <a:ext cx="91440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8" name="Shape 5"/>
          <p:cNvSpPr/>
          <p:nvPr/>
        </p:nvSpPr>
        <p:spPr>
          <a:xfrm>
            <a:off x="6858000" y="1984248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9" name="Text 6"/>
          <p:cNvSpPr/>
          <p:nvPr/>
        </p:nvSpPr>
        <p:spPr>
          <a:xfrm>
            <a:off x="6846957" y="1995291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Procesiranje mRNA</a:t>
            </a:r>
            <a:endParaRPr lang="en-US" sz="1400"/>
          </a:p>
        </p:txBody>
      </p:sp>
      <p:sp>
        <p:nvSpPr>
          <p:cNvPr id="11" name="Text 8"/>
          <p:cNvSpPr/>
          <p:nvPr/>
        </p:nvSpPr>
        <p:spPr>
          <a:xfrm>
            <a:off x="7498080" y="21488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Celica selektivno regulira procesiranje pre-mRNA pomembnih stresnih transkriptov.</a:t>
            </a:r>
            <a:endParaRPr lang="en-US" sz="1100"/>
          </a:p>
        </p:txBody>
      </p:sp>
      <p:sp>
        <p:nvSpPr>
          <p:cNvPr id="12" name="Shape 9"/>
          <p:cNvSpPr/>
          <p:nvPr/>
        </p:nvSpPr>
        <p:spPr>
          <a:xfrm>
            <a:off x="6583680" y="2752344"/>
            <a:ext cx="5029200" cy="10058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3" name="Shape 10"/>
          <p:cNvSpPr/>
          <p:nvPr/>
        </p:nvSpPr>
        <p:spPr>
          <a:xfrm>
            <a:off x="6583680" y="2752344"/>
            <a:ext cx="91440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4" name="Shape 11"/>
          <p:cNvSpPr/>
          <p:nvPr/>
        </p:nvSpPr>
        <p:spPr>
          <a:xfrm>
            <a:off x="6858000" y="3044952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5" name="Text 12"/>
          <p:cNvSpPr/>
          <p:nvPr/>
        </p:nvSpPr>
        <p:spPr>
          <a:xfrm>
            <a:off x="6846957" y="305599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/>
          </a:p>
        </p:txBody>
      </p:sp>
      <p:sp>
        <p:nvSpPr>
          <p:cNvPr id="16" name="Text 13"/>
          <p:cNvSpPr/>
          <p:nvPr/>
        </p:nvSpPr>
        <p:spPr>
          <a:xfrm>
            <a:off x="7498080" y="284378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rekombinacija</a:t>
            </a:r>
            <a:endParaRPr lang="en-US" sz="1400"/>
          </a:p>
        </p:txBody>
      </p:sp>
      <p:sp>
        <p:nvSpPr>
          <p:cNvPr id="17" name="Text 14"/>
          <p:cNvSpPr/>
          <p:nvPr/>
        </p:nvSpPr>
        <p:spPr>
          <a:xfrm>
            <a:off x="7498080" y="320954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 povzroča poškodbe DNA — aktivacija popravljalnih mehanizmov.</a:t>
            </a:r>
            <a:endParaRPr lang="en-US" sz="1100"/>
          </a:p>
        </p:txBody>
      </p:sp>
      <p:sp>
        <p:nvSpPr>
          <p:cNvPr id="18" name="Shape 15"/>
          <p:cNvSpPr/>
          <p:nvPr/>
        </p:nvSpPr>
        <p:spPr>
          <a:xfrm>
            <a:off x="6583680" y="3813048"/>
            <a:ext cx="5029200" cy="10058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9" name="Shape 16"/>
          <p:cNvSpPr/>
          <p:nvPr/>
        </p:nvSpPr>
        <p:spPr>
          <a:xfrm>
            <a:off x="6583680" y="3813048"/>
            <a:ext cx="91440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0" name="Shape 17"/>
          <p:cNvSpPr/>
          <p:nvPr/>
        </p:nvSpPr>
        <p:spPr>
          <a:xfrm>
            <a:off x="6858000" y="4105656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1" name="Text 18"/>
          <p:cNvSpPr/>
          <p:nvPr/>
        </p:nvSpPr>
        <p:spPr>
          <a:xfrm>
            <a:off x="6846957" y="411669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/>
          </a:p>
        </p:txBody>
      </p:sp>
      <p:sp>
        <p:nvSpPr>
          <p:cNvPr id="22" name="Text 19"/>
          <p:cNvSpPr/>
          <p:nvPr/>
        </p:nvSpPr>
        <p:spPr>
          <a:xfrm>
            <a:off x="7498080" y="39044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biosintezni proces</a:t>
            </a:r>
            <a:endParaRPr lang="en-US" sz="1400"/>
          </a:p>
        </p:txBody>
      </p:sp>
      <p:sp>
        <p:nvSpPr>
          <p:cNvPr id="23" name="Text 20"/>
          <p:cNvSpPr/>
          <p:nvPr/>
        </p:nvSpPr>
        <p:spPr>
          <a:xfrm>
            <a:off x="7498080" y="42702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Sprememba v replikaciji in metabolizmu nukleotidov med stresom.</a:t>
            </a:r>
            <a:endParaRPr lang="en-US" sz="1100"/>
          </a:p>
        </p:txBody>
      </p:sp>
      <p:sp>
        <p:nvSpPr>
          <p:cNvPr id="24" name="Shape 21"/>
          <p:cNvSpPr/>
          <p:nvPr/>
        </p:nvSpPr>
        <p:spPr>
          <a:xfrm>
            <a:off x="6583680" y="4873752"/>
            <a:ext cx="5029200" cy="10058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5" name="Shape 22"/>
          <p:cNvSpPr/>
          <p:nvPr/>
        </p:nvSpPr>
        <p:spPr>
          <a:xfrm>
            <a:off x="6583680" y="4873752"/>
            <a:ext cx="91440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6" name="Shape 23"/>
          <p:cNvSpPr/>
          <p:nvPr/>
        </p:nvSpPr>
        <p:spPr>
          <a:xfrm>
            <a:off x="6858000" y="516636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7" name="Text 24"/>
          <p:cNvSpPr/>
          <p:nvPr/>
        </p:nvSpPr>
        <p:spPr>
          <a:xfrm>
            <a:off x="6846957" y="517740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/>
          </a:p>
        </p:txBody>
      </p:sp>
      <p:sp>
        <p:nvSpPr>
          <p:cNvPr id="28" name="Text 25"/>
          <p:cNvSpPr/>
          <p:nvPr/>
        </p:nvSpPr>
        <p:spPr>
          <a:xfrm>
            <a:off x="7498080" y="4965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Respiratorni metabolizem</a:t>
            </a:r>
            <a:endParaRPr lang="en-US" sz="1400"/>
          </a:p>
        </p:txBody>
      </p:sp>
      <p:sp>
        <p:nvSpPr>
          <p:cNvPr id="29" name="Text 26"/>
          <p:cNvSpPr/>
          <p:nvPr/>
        </p:nvSpPr>
        <p:spPr>
          <a:xfrm>
            <a:off x="7498080" y="5330952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Preklop iz fermentacije v dihanje za učinkovitejšo proizvodnjo ATP.</a:t>
            </a:r>
            <a:endParaRPr lang="en-US" sz="1100"/>
          </a:p>
        </p:txBody>
      </p:sp>
      <p:sp>
        <p:nvSpPr>
          <p:cNvPr id="30" name="Text 27"/>
          <p:cNvSpPr/>
          <p:nvPr/>
        </p:nvSpPr>
        <p:spPr>
          <a:xfrm>
            <a:off x="6583680" y="60350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>
                <a:solidFill>
                  <a:srgbClr val="F59E0B"/>
                </a:solidFill>
              </a:rPr>
              <a:t>⚠ </a:t>
            </a:r>
            <a:r>
              <a:rPr lang="en-US" sz="9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BH korekciji rezultati niso strogo signifikantni — 150 genov je malo za zanesljivo GO analizo (eksploratorni rezultati).</a:t>
            </a:r>
            <a:endParaRPr lang="en-US" sz="1000"/>
          </a:p>
        </p:txBody>
      </p:sp>
      <p:sp>
        <p:nvSpPr>
          <p:cNvPr id="31" name="Shape 28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2" name="Shape 29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3" name="Text 30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/>
          </a:p>
        </p:txBody>
      </p:sp>
      <p:sp>
        <p:nvSpPr>
          <p:cNvPr id="34" name="Text 31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/>
          </a:p>
        </p:txBody>
      </p:sp>
      <p:sp>
        <p:nvSpPr>
          <p:cNvPr id="35" name="Text 32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400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REZULTATI | POVEČANA TRANSKRIPCIJA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geni s povečano transkripcijo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70332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703320" cy="5486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0194" y="1717470"/>
            <a:ext cx="3060141" cy="522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kern="0" spc="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NAJBOLJ POVIŠANO IZRAŽANJE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ZNF1</a:t>
            </a:r>
            <a:endParaRPr lang="en-US" sz="3600"/>
          </a:p>
        </p:txBody>
      </p:sp>
      <p:sp>
        <p:nvSpPr>
          <p:cNvPr id="10" name="Text 7"/>
          <p:cNvSpPr/>
          <p:nvPr/>
        </p:nvSpPr>
        <p:spPr>
          <a:xfrm>
            <a:off x="777240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YFL052W</a:t>
            </a:r>
            <a:endParaRPr lang="en-US" sz="1300"/>
          </a:p>
        </p:txBody>
      </p:sp>
      <p:sp>
        <p:nvSpPr>
          <p:cNvPr id="11" name="Shape 8"/>
          <p:cNvSpPr/>
          <p:nvPr/>
        </p:nvSpPr>
        <p:spPr>
          <a:xfrm>
            <a:off x="777240" y="3520440"/>
            <a:ext cx="32461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2" name="Text 9"/>
          <p:cNvSpPr/>
          <p:nvPr/>
        </p:nvSpPr>
        <p:spPr>
          <a:xfrm>
            <a:off x="777240" y="3611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TRANSKRIPCIJSKI FAKTOR</a:t>
            </a:r>
            <a:endParaRPr lang="en-US" sz="1000"/>
          </a:p>
        </p:txBody>
      </p:sp>
      <p:sp>
        <p:nvSpPr>
          <p:cNvPr id="13" name="Text 10"/>
          <p:cNvSpPr/>
          <p:nvPr/>
        </p:nvSpPr>
        <p:spPr>
          <a:xfrm>
            <a:off x="777240" y="397764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Regulira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prehod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iz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fermentativnega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metabolizma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v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respiratornega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Aktivira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gene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respiratornega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metabolizma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, gene za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izrabo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alternativnih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virov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ogljika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in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zmanjšuje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ribosomsko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biogenezo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77240" y="5532120"/>
            <a:ext cx="3246120" cy="41148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5" name="Text 12"/>
          <p:cNvSpPr/>
          <p:nvPr/>
        </p:nvSpPr>
        <p:spPr>
          <a:xfrm>
            <a:off x="777240" y="55321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i="1" err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Metabolni</a:t>
            </a:r>
            <a:r>
              <a:rPr lang="en-US" sz="1100" b="1" i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 i="1" err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prehod</a:t>
            </a:r>
            <a:endParaRPr lang="en-US" sz="1100" b="1" i="1" err="1">
              <a:solidFill>
                <a:srgbClr val="0F766E"/>
              </a:solidFill>
              <a:ea typeface="Calibri"/>
              <a:cs typeface="Calibri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416552" y="1691640"/>
            <a:ext cx="370332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17" name="Shape 14"/>
          <p:cNvSpPr/>
          <p:nvPr/>
        </p:nvSpPr>
        <p:spPr>
          <a:xfrm>
            <a:off x="4416552" y="1691640"/>
            <a:ext cx="3703320" cy="5486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78308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48072" y="16916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POVIŠANO IZRAŽANJE</a:t>
            </a:r>
            <a:endParaRPr lang="en-US" sz="1000"/>
          </a:p>
        </p:txBody>
      </p:sp>
      <p:sp>
        <p:nvSpPr>
          <p:cNvPr id="20" name="Text 16"/>
          <p:cNvSpPr/>
          <p:nvPr/>
        </p:nvSpPr>
        <p:spPr>
          <a:xfrm>
            <a:off x="4645152" y="23774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>
                <a:solidFill>
                  <a:srgbClr val="0F766E"/>
                </a:solidFill>
                <a:ea typeface="Calibri"/>
                <a:cs typeface="Calibri"/>
              </a:rPr>
              <a:t>FMP25 (BCA1)</a:t>
            </a:r>
          </a:p>
        </p:txBody>
      </p:sp>
      <p:sp>
        <p:nvSpPr>
          <p:cNvPr id="21" name="Text 17"/>
          <p:cNvSpPr/>
          <p:nvPr/>
        </p:nvSpPr>
        <p:spPr>
          <a:xfrm>
            <a:off x="4645152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YLR077W</a:t>
            </a:r>
            <a:endParaRPr lang="sl-SI"/>
          </a:p>
        </p:txBody>
      </p:sp>
      <p:sp>
        <p:nvSpPr>
          <p:cNvPr id="22" name="Shape 18"/>
          <p:cNvSpPr/>
          <p:nvPr/>
        </p:nvSpPr>
        <p:spPr>
          <a:xfrm>
            <a:off x="4645152" y="3520440"/>
            <a:ext cx="32461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3" name="Text 19"/>
          <p:cNvSpPr/>
          <p:nvPr/>
        </p:nvSpPr>
        <p:spPr>
          <a:xfrm>
            <a:off x="4645152" y="3611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kern="0" spc="300">
                <a:solidFill>
                  <a:srgbClr val="F59E0B"/>
                </a:solidFill>
                <a:ea typeface="Calibri"/>
                <a:cs typeface="Calibri"/>
              </a:rPr>
              <a:t>MITOHONDRIJ — KOMPLEKS III</a:t>
            </a:r>
            <a:endParaRPr lang="en-US" sz="1000" kern="0" spc="3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4645152" y="397764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Sestavni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del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respiratornega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kompleksa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III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elektronske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transportne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verige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Zaradi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respiratornega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metabolizma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večja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potreba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po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vzdrževanju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in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obnovi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ribosomov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20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25" name="Shape 21"/>
          <p:cNvSpPr/>
          <p:nvPr/>
        </p:nvSpPr>
        <p:spPr>
          <a:xfrm>
            <a:off x="4645152" y="5532120"/>
            <a:ext cx="3246120" cy="41148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6" name="Text 22"/>
          <p:cNvSpPr/>
          <p:nvPr/>
        </p:nvSpPr>
        <p:spPr>
          <a:xfrm>
            <a:off x="4645152" y="55321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i="1" err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Respiratorna</a:t>
            </a:r>
            <a:r>
              <a:rPr lang="en-US" sz="1100" b="1" i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100" b="1" i="1" err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obremenitev</a:t>
            </a:r>
            <a:endParaRPr lang="en-US" sz="1100" err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8284464" y="1691640"/>
            <a:ext cx="370332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28" name="Shape 24"/>
          <p:cNvSpPr/>
          <p:nvPr/>
        </p:nvSpPr>
        <p:spPr>
          <a:xfrm>
            <a:off x="8284464" y="1691640"/>
            <a:ext cx="3703320" cy="5486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064" y="1783080"/>
            <a:ext cx="365760" cy="36576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015984" y="16916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POVIŠANO IZRAŽANJE</a:t>
            </a:r>
            <a:endParaRPr lang="en-US" sz="1000"/>
          </a:p>
        </p:txBody>
      </p:sp>
      <p:sp>
        <p:nvSpPr>
          <p:cNvPr id="31" name="Text 26"/>
          <p:cNvSpPr/>
          <p:nvPr/>
        </p:nvSpPr>
        <p:spPr>
          <a:xfrm>
            <a:off x="8513064" y="23774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0F766E"/>
                </a:solidFill>
                <a:ea typeface="Calibri"/>
                <a:cs typeface="Calibri"/>
              </a:rPr>
              <a:t>SME1</a:t>
            </a:r>
          </a:p>
        </p:txBody>
      </p:sp>
      <p:sp>
        <p:nvSpPr>
          <p:cNvPr id="32" name="Text 27"/>
          <p:cNvSpPr/>
          <p:nvPr/>
        </p:nvSpPr>
        <p:spPr>
          <a:xfrm>
            <a:off x="8513064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YOR159C</a:t>
            </a:r>
            <a:endParaRPr lang="sl-SI"/>
          </a:p>
        </p:txBody>
      </p:sp>
      <p:sp>
        <p:nvSpPr>
          <p:cNvPr id="33" name="Shape 28"/>
          <p:cNvSpPr/>
          <p:nvPr/>
        </p:nvSpPr>
        <p:spPr>
          <a:xfrm>
            <a:off x="8513064" y="3520440"/>
            <a:ext cx="32461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4" name="Text 29"/>
          <p:cNvSpPr/>
          <p:nvPr/>
        </p:nvSpPr>
        <p:spPr>
          <a:xfrm>
            <a:off x="8513064" y="3611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kern="0" spc="300">
                <a:solidFill>
                  <a:srgbClr val="F59E0B"/>
                </a:solidFill>
                <a:latin typeface="Calibri"/>
                <a:ea typeface="Calibri"/>
                <a:cs typeface="Calibri"/>
              </a:rPr>
              <a:t>IZREZOVALNO TELESCE</a:t>
            </a:r>
            <a:endParaRPr lang="en-US" sz="1000" kern="0" spc="3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Text 30"/>
          <p:cNvSpPr/>
          <p:nvPr/>
        </p:nvSpPr>
        <p:spPr>
          <a:xfrm>
            <a:off x="8513064" y="3965640"/>
            <a:ext cx="3246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Sestavni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del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izrezovalnega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telesca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-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procesiranje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pre-mRNA.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Povišano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izražanje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morda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odraža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reorganizacijo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izrezovalnga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telesca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za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selektivno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procesiranjestresnih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transkriptov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endParaRPr lang="en-US" sz="1200">
              <a:solidFill>
                <a:srgbClr val="1E293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8513064" y="5532120"/>
            <a:ext cx="3246120" cy="41148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7" name="Text 32"/>
          <p:cNvSpPr/>
          <p:nvPr/>
        </p:nvSpPr>
        <p:spPr>
          <a:xfrm>
            <a:off x="8513064" y="55321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i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mRNA </a:t>
            </a:r>
            <a:r>
              <a:rPr lang="en-US" sz="1100" b="1" i="1" err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procesiranje</a:t>
            </a:r>
            <a:endParaRPr lang="en-US" sz="1100" err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" name="Shape 3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9" name="Shape 34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40" name="Text 35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/>
          </a:p>
        </p:txBody>
      </p:sp>
      <p:sp>
        <p:nvSpPr>
          <p:cNvPr id="41" name="Text 36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/>
          </a:p>
        </p:txBody>
      </p:sp>
      <p:sp>
        <p:nvSpPr>
          <p:cNvPr id="42" name="Text 37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400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REZULTATI | ZNIŽANA TRANSKRIPCIJA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s konsistentno znižano ekspresijo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443484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86400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691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ZNIŽANO IZRAŽANJE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914400" y="2468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DUS3</a:t>
            </a:r>
            <a:endParaRPr lang="en-US" sz="6000"/>
          </a:p>
        </p:txBody>
      </p:sp>
      <p:sp>
        <p:nvSpPr>
          <p:cNvPr id="10" name="Text 7"/>
          <p:cNvSpPr/>
          <p:nvPr/>
        </p:nvSpPr>
        <p:spPr>
          <a:xfrm>
            <a:off x="91440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YLR401C</a:t>
            </a:r>
            <a:endParaRPr lang="en-US" sz="1600"/>
          </a:p>
        </p:txBody>
      </p:sp>
      <p:sp>
        <p:nvSpPr>
          <p:cNvPr id="11" name="Shape 8"/>
          <p:cNvSpPr/>
          <p:nvPr/>
        </p:nvSpPr>
        <p:spPr>
          <a:xfrm>
            <a:off x="914400" y="3977640"/>
            <a:ext cx="4754880" cy="18288"/>
          </a:xfrm>
          <a:prstGeom prst="rect">
            <a:avLst/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2" name="Text 9"/>
          <p:cNvSpPr/>
          <p:nvPr/>
        </p:nvSpPr>
        <p:spPr>
          <a:xfrm>
            <a:off x="914400" y="4069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</a:t>
            </a:r>
            <a:endParaRPr lang="en-US" sz="1100"/>
          </a:p>
        </p:txBody>
      </p:sp>
      <p:sp>
        <p:nvSpPr>
          <p:cNvPr id="13" name="Text 10"/>
          <p:cNvSpPr/>
          <p:nvPr/>
        </p:nvSpPr>
        <p:spPr>
          <a:xfrm>
            <a:off x="914400" y="438912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Posttranskripcijska modifikacija tRNA — pretvarja uridine v dihidrouridine v variabilni regiji.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modifikacije so ključne za pravilno zvitje, fleksibilnost in stabilnost tRNA — torej za učinkovito translacijo.</a:t>
            </a:r>
            <a:endParaRPr lang="en-US" sz="1400"/>
          </a:p>
        </p:txBody>
      </p:sp>
      <p:sp>
        <p:nvSpPr>
          <p:cNvPr id="14" name="Shape 11"/>
          <p:cNvSpPr/>
          <p:nvPr/>
        </p:nvSpPr>
        <p:spPr>
          <a:xfrm>
            <a:off x="6400800" y="1691640"/>
            <a:ext cx="5212080" cy="4434840"/>
          </a:xfrm>
          <a:prstGeom prst="rect">
            <a:avLst/>
          </a:prstGeom>
          <a:solidFill>
            <a:srgbClr val="0F2E2C"/>
          </a:solidFill>
          <a:ln w="12700">
            <a:solidFill>
              <a:srgbClr val="0F2E2C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sp>
        <p:nvSpPr>
          <p:cNvPr id="15" name="Text 12"/>
          <p:cNvSpPr/>
          <p:nvPr/>
        </p:nvSpPr>
        <p:spPr>
          <a:xfrm>
            <a:off x="667512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BIOLOŠKI POMEN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6675120" y="237744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Manjše modifikacije tRNA →</a:t>
            </a:r>
            <a:endParaRPr lang="en-US" sz="2200"/>
          </a:p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upočasnjena translacija</a:t>
            </a:r>
            <a:endParaRPr lang="en-US" sz="2200"/>
          </a:p>
        </p:txBody>
      </p:sp>
      <p:sp>
        <p:nvSpPr>
          <p:cNvPr id="17" name="Text 14"/>
          <p:cNvSpPr/>
          <p:nvPr/>
        </p:nvSpPr>
        <p:spPr>
          <a:xfrm>
            <a:off x="6675120" y="3566160"/>
            <a:ext cx="4663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Med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stresom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celica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zmanjša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globalno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raven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sinteze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proteinov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>
              <a:spcAft>
                <a:spcPts val="1000"/>
              </a:spcAft>
            </a:pP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Energetsko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potratni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procesi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translacija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biosinteza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ribosomov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) se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upočasnijo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—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viri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se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preusmerijo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v </a:t>
            </a:r>
            <a:r>
              <a:rPr lang="en-US" sz="140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preživetje</a:t>
            </a:r>
            <a:r>
              <a:rPr lang="en-US" sz="14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400">
              <a:latin typeface="Calibri"/>
              <a:ea typeface="Calibri"/>
              <a:cs typeface="Calibri"/>
            </a:endParaRPr>
          </a:p>
          <a:p>
            <a:r>
              <a:rPr lang="en-US" sz="1400" i="1" err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Sklada</a:t>
            </a:r>
            <a:r>
              <a:rPr lang="en-US" sz="1400" i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 se s </a:t>
            </a:r>
            <a:r>
              <a:rPr lang="en-US" sz="1400" i="1" err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prej</a:t>
            </a:r>
            <a:r>
              <a:rPr lang="en-US" sz="1400" i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 err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opaženoim</a:t>
            </a:r>
            <a:r>
              <a:rPr lang="en-US" sz="1400" i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 err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splošnim</a:t>
            </a:r>
            <a:r>
              <a:rPr lang="en-US" sz="1400" i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 err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upadcem</a:t>
            </a:r>
            <a:r>
              <a:rPr lang="en-US" sz="1400" i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 err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proteinske</a:t>
            </a:r>
            <a:r>
              <a:rPr lang="en-US" sz="1400" i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i="1" err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sinteze</a:t>
            </a:r>
            <a:r>
              <a:rPr lang="en-US" sz="1400" i="1">
                <a:solidFill>
                  <a:srgbClr val="5EEAD4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8" name="Shape 1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9" name="Shape 16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0" name="Text 17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/>
          </a:p>
        </p:txBody>
      </p:sp>
      <p:sp>
        <p:nvSpPr>
          <p:cNvPr id="22" name="Text 19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REZULTATI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Mreža interakcij — GeneMANIA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 i="1">
                <a:solidFill>
                  <a:srgbClr val="1E293B"/>
                </a:solidFill>
                <a:ea typeface="+mn-lt"/>
                <a:cs typeface="+mn-lt"/>
              </a:rPr>
              <a:t>Kako so </a:t>
            </a:r>
            <a:r>
              <a:rPr lang="en-US" sz="1400" i="1" err="1">
                <a:solidFill>
                  <a:srgbClr val="1E293B"/>
                </a:solidFill>
                <a:ea typeface="+mn-lt"/>
                <a:cs typeface="+mn-lt"/>
              </a:rPr>
              <a:t>diferencialno</a:t>
            </a:r>
            <a:r>
              <a:rPr lang="en-US" sz="1400" i="1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i="1" err="1">
                <a:solidFill>
                  <a:srgbClr val="1E293B"/>
                </a:solidFill>
                <a:ea typeface="+mn-lt"/>
                <a:cs typeface="+mn-lt"/>
              </a:rPr>
              <a:t>izraženi</a:t>
            </a:r>
            <a:r>
              <a:rPr lang="en-US" sz="1400" i="1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i="1" err="1">
                <a:solidFill>
                  <a:srgbClr val="1E293B"/>
                </a:solidFill>
                <a:ea typeface="+mn-lt"/>
                <a:cs typeface="+mn-lt"/>
              </a:rPr>
              <a:t>geni</a:t>
            </a:r>
            <a:r>
              <a:rPr lang="en-US" sz="1400" i="1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i="1" err="1">
                <a:solidFill>
                  <a:srgbClr val="1E293B"/>
                </a:solidFill>
                <a:ea typeface="+mn-lt"/>
                <a:cs typeface="+mn-lt"/>
              </a:rPr>
              <a:t>funkcionalno</a:t>
            </a:r>
            <a:r>
              <a:rPr lang="en-US" sz="1400" i="1">
                <a:solidFill>
                  <a:srgbClr val="1E293B"/>
                </a:solidFill>
                <a:ea typeface="+mn-lt"/>
                <a:cs typeface="+mn-lt"/>
              </a:rPr>
              <a:t> </a:t>
            </a:r>
            <a:r>
              <a:rPr lang="en-US" sz="1400" i="1" err="1">
                <a:solidFill>
                  <a:srgbClr val="1E293B"/>
                </a:solidFill>
                <a:ea typeface="+mn-lt"/>
                <a:cs typeface="+mn-lt"/>
              </a:rPr>
              <a:t>povezani</a:t>
            </a:r>
            <a:r>
              <a:rPr lang="en-US" sz="1400" i="1">
                <a:solidFill>
                  <a:srgbClr val="1E293B"/>
                </a:solidFill>
                <a:ea typeface="+mn-lt"/>
                <a:cs typeface="+mn-lt"/>
              </a:rPr>
              <a:t>? </a:t>
            </a:r>
            <a:endParaRPr lang="en-US" sz="140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7033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231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423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err="1">
                <a:solidFill>
                  <a:srgbClr val="0F766E"/>
                </a:solidFill>
                <a:ea typeface="Calibri"/>
                <a:cs typeface="Calibri"/>
              </a:rPr>
              <a:t>Izrezovalno</a:t>
            </a:r>
            <a:r>
              <a:rPr lang="en-US" sz="1600" b="1">
                <a:solidFill>
                  <a:srgbClr val="0F766E"/>
                </a:solidFill>
                <a:ea typeface="Calibri"/>
                <a:cs typeface="Calibri"/>
              </a:rPr>
              <a:t> </a:t>
            </a:r>
            <a:r>
              <a:rPr lang="en-US" sz="1600" b="1" err="1">
                <a:solidFill>
                  <a:srgbClr val="0F766E"/>
                </a:solidFill>
                <a:ea typeface="Calibri"/>
                <a:cs typeface="Calibri"/>
              </a:rPr>
              <a:t>telesce</a:t>
            </a:r>
          </a:p>
        </p:txBody>
      </p:sp>
      <p:sp>
        <p:nvSpPr>
          <p:cNvPr id="9" name="Shape 6"/>
          <p:cNvSpPr/>
          <p:nvPr/>
        </p:nvSpPr>
        <p:spPr>
          <a:xfrm>
            <a:off x="822960" y="3108960"/>
            <a:ext cx="3154680" cy="5486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0" name="Text 7"/>
          <p:cNvSpPr/>
          <p:nvPr/>
        </p:nvSpPr>
        <p:spPr>
          <a:xfrm>
            <a:off x="822960" y="3108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SME1</a:t>
            </a:r>
            <a:endParaRPr lang="en-US" sz="1400"/>
          </a:p>
        </p:txBody>
      </p:sp>
      <p:sp>
        <p:nvSpPr>
          <p:cNvPr id="11" name="Text 8"/>
          <p:cNvSpPr/>
          <p:nvPr/>
        </p:nvSpPr>
        <p:spPr>
          <a:xfrm>
            <a:off x="822960" y="3703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SMX2 · SMX3 · SMD1 · SMD2 · SMD3 · SMB1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822960" y="434340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Velika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gruča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komponent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spliceosoma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 Potrjuje GO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obogatitveno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analizo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"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procesiranje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mRNA".</a:t>
            </a:r>
          </a:p>
        </p:txBody>
      </p:sp>
      <p:sp>
        <p:nvSpPr>
          <p:cNvPr id="13" name="Shape 10"/>
          <p:cNvSpPr/>
          <p:nvPr/>
        </p:nvSpPr>
        <p:spPr>
          <a:xfrm>
            <a:off x="4416552" y="2148840"/>
            <a:ext cx="37033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42316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85232" y="2423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err="1">
                <a:solidFill>
                  <a:srgbClr val="0F766E"/>
                </a:solidFill>
                <a:ea typeface="Calibri"/>
                <a:cs typeface="Calibri"/>
              </a:rPr>
              <a:t>Jedrno-citoplazemski</a:t>
            </a:r>
            <a:r>
              <a:rPr lang="en-US" sz="1600" b="1">
                <a:solidFill>
                  <a:srgbClr val="0F766E"/>
                </a:solidFill>
                <a:ea typeface="Calibri"/>
                <a:cs typeface="Calibri"/>
              </a:rPr>
              <a:t> transport</a:t>
            </a:r>
          </a:p>
        </p:txBody>
      </p:sp>
      <p:sp>
        <p:nvSpPr>
          <p:cNvPr id="16" name="Shape 12"/>
          <p:cNvSpPr/>
          <p:nvPr/>
        </p:nvSpPr>
        <p:spPr>
          <a:xfrm>
            <a:off x="4690872" y="3108960"/>
            <a:ext cx="3154680" cy="5486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7" name="Text 13"/>
          <p:cNvSpPr/>
          <p:nvPr/>
        </p:nvSpPr>
        <p:spPr>
          <a:xfrm>
            <a:off x="4690872" y="3108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SRM1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4690872" y="3703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GTPaza Gsp1 · jedrno-citoplazemski transport</a:t>
            </a:r>
            <a:endParaRPr lang="en-US" sz="1100"/>
          </a:p>
        </p:txBody>
      </p:sp>
      <p:sp>
        <p:nvSpPr>
          <p:cNvPr id="19" name="Text 15"/>
          <p:cNvSpPr/>
          <p:nvPr/>
        </p:nvSpPr>
        <p:spPr>
          <a:xfrm>
            <a:off x="4690872" y="434340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SRM1 (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nukleotidni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izmenjevalni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faktor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sodeluje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pri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transportu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makromolekul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med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jedrom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in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citoplazmo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284464" y="2148840"/>
            <a:ext cx="37033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SI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784" y="24231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153144" y="2423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Retrogradni odziv</a:t>
            </a:r>
            <a:endParaRPr lang="en-US" sz="1600"/>
          </a:p>
        </p:txBody>
      </p:sp>
      <p:sp>
        <p:nvSpPr>
          <p:cNvPr id="23" name="Shape 18"/>
          <p:cNvSpPr/>
          <p:nvPr/>
        </p:nvSpPr>
        <p:spPr>
          <a:xfrm>
            <a:off x="8558784" y="3108960"/>
            <a:ext cx="3154680" cy="5486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4" name="Text 19"/>
          <p:cNvSpPr/>
          <p:nvPr/>
        </p:nvSpPr>
        <p:spPr>
          <a:xfrm>
            <a:off x="8558784" y="3108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RTG1</a:t>
            </a:r>
            <a:endParaRPr lang="en-US" sz="1400"/>
          </a:p>
        </p:txBody>
      </p:sp>
      <p:sp>
        <p:nvSpPr>
          <p:cNvPr id="25" name="Text 20"/>
          <p:cNvSpPr/>
          <p:nvPr/>
        </p:nvSpPr>
        <p:spPr>
          <a:xfrm>
            <a:off x="8558784" y="3703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0" i="1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Signalizacija</a:t>
            </a:r>
            <a:r>
              <a:rPr lang="en-US"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100" i="1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mitohondrij</a:t>
            </a:r>
            <a:r>
              <a:rPr lang="en-US"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→ </a:t>
            </a:r>
            <a:r>
              <a:rPr lang="en-US" sz="1100" i="1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jedro</a:t>
            </a:r>
            <a:endParaRPr lang="en-US" sz="1100" i="1" err="1">
              <a:solidFill>
                <a:srgbClr val="64748B"/>
              </a:solidFill>
              <a:ea typeface="Calibri"/>
              <a:cs typeface="Calibri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8558784" y="434340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Transkripcijski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faktor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retrogradnega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odziva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—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aktivira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se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ob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motnjah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mitohondrijske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respiracije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 , </a:t>
            </a:r>
            <a:r>
              <a:rPr lang="en-US" sz="1200" err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povezava</a:t>
            </a:r>
            <a:r>
              <a:rPr lang="en-US"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z FMP25. </a:t>
            </a:r>
            <a:endParaRPr lang="en-US" sz="120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0" name="Shape 25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1" name="Text 26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/>
          </a:p>
        </p:txBody>
      </p:sp>
      <p:sp>
        <p:nvSpPr>
          <p:cNvPr id="32" name="Text 27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/>
          </a:p>
        </p:txBody>
      </p:sp>
      <p:sp>
        <p:nvSpPr>
          <p:cNvPr id="33" name="Text 28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2326BD-141B-DA16-6FC7-A13E35669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46A1B40-B678-24B1-2CCA-92E2739B9FB7}"/>
              </a:ext>
            </a:extLst>
          </p:cNvPr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REZULTATI</a:t>
            </a:r>
            <a:endParaRPr lang="en-US" sz="1100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FB42A5BD-6562-7AC5-CEEC-D5EAA8A8E4C2}"/>
              </a:ext>
            </a:extLst>
          </p:cNvPr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591ED4FC-69CA-A45D-86F1-1FA9FCE52964}"/>
              </a:ext>
            </a:extLst>
          </p:cNvPr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C450C87B-EFB3-7560-10BD-E448EB5970A5}"/>
              </a:ext>
            </a:extLst>
          </p:cNvPr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  <a:endParaRPr lang="en-US" sz="1200"/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57EC57EA-F1EB-461B-2D17-7A0812CF4208}"/>
              </a:ext>
            </a:extLst>
          </p:cNvPr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B3272CAB-6D47-B87D-8D46-83E7173D2FB9}"/>
              </a:ext>
            </a:extLst>
          </p:cNvPr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  <p:pic>
        <p:nvPicPr>
          <p:cNvPr id="35" name="Slika 34" descr="Slika, ki vsebuje besede krog, zemljevid, diagram&#10;&#10;Vsebina, ustvarjena z UI, morda ni pravilna.">
            <a:extLst>
              <a:ext uri="{FF2B5EF4-FFF2-40B4-BE49-F238E27FC236}">
                <a16:creationId xmlns:a16="http://schemas.microsoft.com/office/drawing/2014/main" id="{2554B3B3-BCB4-B7F7-B030-A812D8E475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461" y="321227"/>
            <a:ext cx="6142272" cy="6270000"/>
          </a:xfrm>
          <a:prstGeom prst="rect">
            <a:avLst/>
          </a:prstGeom>
        </p:spPr>
      </p:pic>
      <p:sp>
        <p:nvSpPr>
          <p:cNvPr id="38" name="Elipsa 37">
            <a:extLst>
              <a:ext uri="{FF2B5EF4-FFF2-40B4-BE49-F238E27FC236}">
                <a16:creationId xmlns:a16="http://schemas.microsoft.com/office/drawing/2014/main" id="{37144BC5-6FC1-9AE8-D95C-02C563FFFF0B}"/>
              </a:ext>
            </a:extLst>
          </p:cNvPr>
          <p:cNvSpPr/>
          <p:nvPr/>
        </p:nvSpPr>
        <p:spPr>
          <a:xfrm>
            <a:off x="4117360" y="3220890"/>
            <a:ext cx="729983" cy="653142"/>
          </a:xfrm>
          <a:prstGeom prst="ellipse">
            <a:avLst/>
          </a:prstGeom>
          <a:solidFill>
            <a:srgbClr val="00FF5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43" name="Elipsa 42">
            <a:extLst>
              <a:ext uri="{FF2B5EF4-FFF2-40B4-BE49-F238E27FC236}">
                <a16:creationId xmlns:a16="http://schemas.microsoft.com/office/drawing/2014/main" id="{F8B14337-213C-344F-4C20-07F34E9B8D9C}"/>
              </a:ext>
            </a:extLst>
          </p:cNvPr>
          <p:cNvSpPr/>
          <p:nvPr/>
        </p:nvSpPr>
        <p:spPr>
          <a:xfrm>
            <a:off x="4546384" y="4271040"/>
            <a:ext cx="461042" cy="467445"/>
          </a:xfrm>
          <a:prstGeom prst="ellipse">
            <a:avLst/>
          </a:prstGeom>
          <a:solidFill>
            <a:srgbClr val="F200FF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519315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KRITIČNI POGLED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Omejitve analize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12344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91440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594360" cy="594360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210312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18745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Normalizacija DESeq2</a:t>
            </a:r>
            <a:endParaRPr lang="en-US" sz="1600"/>
          </a:p>
        </p:txBody>
      </p:sp>
      <p:sp>
        <p:nvSpPr>
          <p:cNvPr id="10" name="Text 7"/>
          <p:cNvSpPr/>
          <p:nvPr/>
        </p:nvSpPr>
        <p:spPr>
          <a:xfrm>
            <a:off x="1737360" y="2240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Median-of-ratios predpostavlja stabilno skupno količino RNA. Pri stradanju glukoze celice z manj energije globalno proizvajajo manj RNA — predpostavka morda ne drži v celoti.</a:t>
            </a:r>
            <a:endParaRPr lang="en-US" sz="1300"/>
          </a:p>
        </p:txBody>
      </p:sp>
      <p:sp>
        <p:nvSpPr>
          <p:cNvPr id="11" name="Shape 8"/>
          <p:cNvSpPr/>
          <p:nvPr/>
        </p:nvSpPr>
        <p:spPr>
          <a:xfrm>
            <a:off x="548640" y="3090672"/>
            <a:ext cx="11064240" cy="12344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2" name="Shape 9"/>
          <p:cNvSpPr/>
          <p:nvPr/>
        </p:nvSpPr>
        <p:spPr>
          <a:xfrm>
            <a:off x="548640" y="3090672"/>
            <a:ext cx="91440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3" name="Shape 10"/>
          <p:cNvSpPr/>
          <p:nvPr/>
        </p:nvSpPr>
        <p:spPr>
          <a:xfrm>
            <a:off x="914400" y="3410712"/>
            <a:ext cx="594360" cy="594360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3502152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737360" y="327355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enrichment - majhen vzorec</a:t>
            </a:r>
            <a:endParaRPr lang="en-US" sz="1600"/>
          </a:p>
        </p:txBody>
      </p:sp>
      <p:sp>
        <p:nvSpPr>
          <p:cNvPr id="16" name="Text 12"/>
          <p:cNvSpPr/>
          <p:nvPr/>
        </p:nvSpPr>
        <p:spPr>
          <a:xfrm>
            <a:off x="1737360" y="363931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skupnih genov je premalo za zanesljivo statistično analizo po BH korekciji. GO rezultati so eksploratorni in zahtevajo dodatno validacijo.</a:t>
            </a:r>
            <a:endParaRPr lang="en-US" sz="1300"/>
          </a:p>
        </p:txBody>
      </p:sp>
      <p:sp>
        <p:nvSpPr>
          <p:cNvPr id="17" name="Shape 13"/>
          <p:cNvSpPr/>
          <p:nvPr/>
        </p:nvSpPr>
        <p:spPr>
          <a:xfrm>
            <a:off x="548640" y="4489704"/>
            <a:ext cx="11064240" cy="12344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8" name="Shape 14"/>
          <p:cNvSpPr/>
          <p:nvPr/>
        </p:nvSpPr>
        <p:spPr>
          <a:xfrm>
            <a:off x="548640" y="4489704"/>
            <a:ext cx="91440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9" name="Shape 15"/>
          <p:cNvSpPr/>
          <p:nvPr/>
        </p:nvSpPr>
        <p:spPr>
          <a:xfrm>
            <a:off x="914400" y="4809744"/>
            <a:ext cx="594360" cy="594360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4901184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737360" y="46725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Variabilnost med celicami</a:t>
            </a:r>
            <a:endParaRPr lang="en-US" sz="1600"/>
          </a:p>
        </p:txBody>
      </p:sp>
      <p:sp>
        <p:nvSpPr>
          <p:cNvPr id="22" name="Text 17"/>
          <p:cNvSpPr/>
          <p:nvPr/>
        </p:nvSpPr>
        <p:spPr>
          <a:xfrm>
            <a:off x="1737360" y="5038344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Visoka biološka variabilnost pri scRNA-seq (posebej pri stradanju glukoze) zmanjšuje statistično moč. Za večjo zanesljivost bi bilo idealno več celic na pogoj.</a:t>
            </a:r>
            <a:endParaRPr lang="en-US" sz="1300"/>
          </a:p>
        </p:txBody>
      </p:sp>
      <p:sp>
        <p:nvSpPr>
          <p:cNvPr id="23" name="Shape 18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FEF9EE"/>
          </a:solidFill>
          <a:ln w="12700">
            <a:solidFill>
              <a:srgbClr val="FEF9E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4" name="Shape 19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25" name="Text 20"/>
          <p:cNvSpPr/>
          <p:nvPr/>
        </p:nvSpPr>
        <p:spPr>
          <a:xfrm>
            <a:off x="0" y="6537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  <a:endParaRPr lang="en-US" sz="1200"/>
          </a:p>
        </p:txBody>
      </p:sp>
      <p:sp>
        <p:nvSpPr>
          <p:cNvPr id="26" name="Text 21"/>
          <p:cNvSpPr/>
          <p:nvPr/>
        </p:nvSpPr>
        <p:spPr>
          <a:xfrm>
            <a:off x="640080" y="6537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Funkcijska genomika - Seminar - Aljaž Kos</a:t>
            </a:r>
            <a:r>
              <a:rPr lang="sl-SI" sz="100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Simon Kristl</a:t>
            </a:r>
            <a:endParaRPr lang="en-US" sz="1000"/>
          </a:p>
        </p:txBody>
      </p:sp>
      <p:sp>
        <p:nvSpPr>
          <p:cNvPr id="27" name="Text 22"/>
          <p:cNvSpPr/>
          <p:nvPr/>
        </p:nvSpPr>
        <p:spPr>
          <a:xfrm>
            <a:off x="7132320" y="6537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cerevisiae | Univerzalni stresni markerji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E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18000"/>
          </a:blip>
          <a:stretch>
            <a:fillRect/>
          </a:stretch>
        </p:blipFill>
        <p:spPr>
          <a:xfrm>
            <a:off x="10058400" y="2743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94360"/>
            <a:ext cx="6400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ZAKLJUČEK</a:t>
            </a:r>
            <a:endParaRPr lang="en-US" sz="1400"/>
          </a:p>
        </p:txBody>
      </p:sp>
      <p:sp>
        <p:nvSpPr>
          <p:cNvPr id="5" name="Text 2"/>
          <p:cNvSpPr/>
          <p:nvPr/>
        </p:nvSpPr>
        <p:spPr>
          <a:xfrm>
            <a:off x="548640" y="1143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Usklajen celični odziv na stres</a:t>
            </a:r>
            <a:endParaRPr lang="en-US" sz="380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7" name="Text 4"/>
          <p:cNvSpPr/>
          <p:nvPr/>
        </p:nvSpPr>
        <p:spPr>
          <a:xfrm>
            <a:off x="64008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8" name="Text 5"/>
          <p:cNvSpPr/>
          <p:nvPr/>
        </p:nvSpPr>
        <p:spPr>
          <a:xfrm>
            <a:off x="1188720" y="2358264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Identificirali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150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genov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skupnega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stresnega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odgovora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DEG-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vseh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treh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pogojih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0" name="Text 7"/>
          <p:cNvSpPr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1" name="Text 8"/>
          <p:cNvSpPr/>
          <p:nvPr/>
        </p:nvSpPr>
        <p:spPr>
          <a:xfrm>
            <a:off x="1188720" y="321711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Štirje ključni geni (ZNF1, SME1, FMP25, DUS3) predstavljajo kandidatne markerje splošnega stresnega odziva pri S. cerevisiae.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023360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3" name="Text 10"/>
          <p:cNvSpPr/>
          <p:nvPr/>
        </p:nvSpPr>
        <p:spPr>
          <a:xfrm>
            <a:off x="640080" y="404544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14" name="Text 11"/>
          <p:cNvSpPr/>
          <p:nvPr/>
        </p:nvSpPr>
        <p:spPr>
          <a:xfrm>
            <a:off x="1188720" y="40857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Skupni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vzorec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preklop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fermentacije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respiracijo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reorganizacija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RNA-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aparata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upočasnitev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translacije</a:t>
            </a:r>
            <a:r>
              <a:rPr lang="en-US" sz="15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0" y="5852160"/>
            <a:ext cx="12161520" cy="10058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6" name="Text 13"/>
          <p:cNvSpPr/>
          <p:nvPr/>
        </p:nvSpPr>
        <p:spPr>
          <a:xfrm>
            <a:off x="548640" y="5852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za pozornost.</a:t>
            </a:r>
            <a:endParaRPr lang="en-US" sz="2400"/>
          </a:p>
        </p:txBody>
      </p:sp>
      <p:sp>
        <p:nvSpPr>
          <p:cNvPr id="17" name="Text 14"/>
          <p:cNvSpPr/>
          <p:nvPr/>
        </p:nvSpPr>
        <p:spPr>
          <a:xfrm>
            <a:off x="7040880" y="5852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Aljaž Kos  •  Funkcijska genomika  •  2026</a:t>
            </a:r>
            <a:endParaRPr lang="en-US" sz="13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E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22C4D9-9F54-20AD-05F2-1B9E2E424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7EF6E0B-3B67-C89C-CC4D-793C0EF831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8000"/>
          </a:blip>
          <a:stretch>
            <a:fillRect/>
          </a:stretch>
        </p:blipFill>
        <p:spPr>
          <a:xfrm>
            <a:off x="10058400" y="274320"/>
            <a:ext cx="1828800" cy="18288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0D240973-2F42-044E-3A33-2F1F106645D1}"/>
              </a:ext>
            </a:extLst>
          </p:cNvPr>
          <p:cNvSpPr/>
          <p:nvPr/>
        </p:nvSpPr>
        <p:spPr>
          <a:xfrm>
            <a:off x="548640" y="594360"/>
            <a:ext cx="6400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E46915F-DDA5-09EB-2B39-67357F6535D7}"/>
              </a:ext>
            </a:extLst>
          </p:cNvPr>
          <p:cNvSpPr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ZAKLJUČEK</a:t>
            </a:r>
            <a:endParaRPr lang="en-US" sz="1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9F8D867-A191-7585-C289-22A78446530B}"/>
              </a:ext>
            </a:extLst>
          </p:cNvPr>
          <p:cNvSpPr/>
          <p:nvPr/>
        </p:nvSpPr>
        <p:spPr>
          <a:xfrm>
            <a:off x="548640" y="1143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Usklajen celični odziv na stres</a:t>
            </a:r>
            <a:endParaRPr lang="en-US" sz="38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D7D0010-61C9-436F-870D-1890A5734711}"/>
              </a:ext>
            </a:extLst>
          </p:cNvPr>
          <p:cNvSpPr/>
          <p:nvPr/>
        </p:nvSpPr>
        <p:spPr>
          <a:xfrm>
            <a:off x="640080" y="2286000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BF82F88-FD73-82DA-2BBA-354305DBB114}"/>
              </a:ext>
            </a:extLst>
          </p:cNvPr>
          <p:cNvSpPr/>
          <p:nvPr/>
        </p:nvSpPr>
        <p:spPr>
          <a:xfrm>
            <a:off x="64008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7EEC30B-5E0D-8D8E-7B66-BF649A5B000C}"/>
              </a:ext>
            </a:extLst>
          </p:cNvPr>
          <p:cNvSpPr/>
          <p:nvPr/>
        </p:nvSpPr>
        <p:spPr>
          <a:xfrm>
            <a:off x="1188720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Identificirali smo 150 genov skupnega stresnega odgovora — DEG-i v vseh treh pogojih.</a:t>
            </a:r>
            <a:endParaRPr lang="en-US" sz="15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DBC9BD5-702D-6EBC-208B-4846ED6B4B6A}"/>
              </a:ext>
            </a:extLst>
          </p:cNvPr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69CAD6F-E777-6DF5-C69B-F112FCA7693D}"/>
              </a:ext>
            </a:extLst>
          </p:cNvPr>
          <p:cNvSpPr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E8332B9-9FA3-6F0E-4842-66920C680B58}"/>
              </a:ext>
            </a:extLst>
          </p:cNvPr>
          <p:cNvSpPr/>
          <p:nvPr/>
        </p:nvSpPr>
        <p:spPr>
          <a:xfrm>
            <a:off x="1188720" y="31089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Skupni vzorec: preklop iz fermentacije v respiracijo + reorganizacija RNA-aparata + upočasnitev translacije.</a:t>
            </a:r>
            <a:endParaRPr lang="en-US" sz="15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C8E8062A-7630-E9E0-FAD1-BEC1E82D019A}"/>
              </a:ext>
            </a:extLst>
          </p:cNvPr>
          <p:cNvSpPr/>
          <p:nvPr/>
        </p:nvSpPr>
        <p:spPr>
          <a:xfrm>
            <a:off x="640080" y="4023360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63FA927-1E9F-3746-6B7A-895421A75FE8}"/>
              </a:ext>
            </a:extLst>
          </p:cNvPr>
          <p:cNvSpPr/>
          <p:nvPr/>
        </p:nvSpPr>
        <p:spPr>
          <a:xfrm>
            <a:off x="64008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76CCE53-57F3-2297-B509-DD735BFDB72E}"/>
              </a:ext>
            </a:extLst>
          </p:cNvPr>
          <p:cNvSpPr/>
          <p:nvPr/>
        </p:nvSpPr>
        <p:spPr>
          <a:xfrm>
            <a:off x="1188720" y="3977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Štirje ključni geni (ZNF1, SME1, FMP25, DUS3) predstavljajo kandidatne markerje splošnega stresnega odziva pri S. cerevisiae.</a:t>
            </a:r>
            <a:endParaRPr lang="en-US" sz="150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C3961FCE-3FBB-59C4-FD50-81AC5A3AED01}"/>
              </a:ext>
            </a:extLst>
          </p:cNvPr>
          <p:cNvSpPr/>
          <p:nvPr/>
        </p:nvSpPr>
        <p:spPr>
          <a:xfrm>
            <a:off x="0" y="2343"/>
            <a:ext cx="12161520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SI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4094532-07A4-BE19-5F8E-EEF97E2A9468}"/>
              </a:ext>
            </a:extLst>
          </p:cNvPr>
          <p:cNvSpPr/>
          <p:nvPr/>
        </p:nvSpPr>
        <p:spPr>
          <a:xfrm>
            <a:off x="548640" y="2832297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za pozornost.</a:t>
            </a:r>
            <a:endParaRPr lang="en-US" sz="36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859DB72-5D14-8EA4-9F92-4A0F2AB2EC8F}"/>
              </a:ext>
            </a:extLst>
          </p:cNvPr>
          <p:cNvSpPr/>
          <p:nvPr/>
        </p:nvSpPr>
        <p:spPr>
          <a:xfrm>
            <a:off x="7040880" y="5852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Aljaž Kos  •  Funkcijska genomika  •  2026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1300928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94dbca1-ef02-4bb1-935d-576f522ee38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73DEDE2626D8C4A9E6EDFF81A325B2D" ma:contentTypeVersion="6" ma:contentTypeDescription="Create a new document." ma:contentTypeScope="" ma:versionID="f929702a09edef86375a9d75dfe0dbc7">
  <xsd:schema xmlns:xsd="http://www.w3.org/2001/XMLSchema" xmlns:xs="http://www.w3.org/2001/XMLSchema" xmlns:p="http://schemas.microsoft.com/office/2006/metadata/properties" xmlns:ns3="594dbca1-ef02-4bb1-935d-576f522ee38e" targetNamespace="http://schemas.microsoft.com/office/2006/metadata/properties" ma:root="true" ma:fieldsID="f9262ad9c9b0feb8b1f307ca564f1f04" ns3:_="">
    <xsd:import namespace="594dbca1-ef02-4bb1-935d-576f522ee38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4dbca1-ef02-4bb1-935d-576f522ee38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3B4C05F-614C-410D-AAED-4539041C8610}">
  <ds:schemaRefs>
    <ds:schemaRef ds:uri="594dbca1-ef02-4bb1-935d-576f522ee38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0495D8B-BCCE-40D6-B426-EE04E8E48590}">
  <ds:schemaRefs>
    <ds:schemaRef ds:uri="594dbca1-ef02-4bb1-935d-576f522ee38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F0D7471-7619-4D10-98E0-6D3A1CF306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1215</Words>
  <Application>Microsoft Office PowerPoint</Application>
  <PresentationFormat>Widescreen</PresentationFormat>
  <Paragraphs>230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S. cerevisiae - Univerzalni stresni markerji</dc:title>
  <dc:subject>PptxGenJS Presentation</dc:subject>
  <dc:creator>Aljaž Kos</dc:creator>
  <cp:lastModifiedBy>Kos, Aljaž</cp:lastModifiedBy>
  <cp:revision>5</cp:revision>
  <dcterms:created xsi:type="dcterms:W3CDTF">2026-05-17T12:51:19Z</dcterms:created>
  <dcterms:modified xsi:type="dcterms:W3CDTF">2026-05-18T08:43:16Z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0x010100173DEDE2626D8C4A9E6EDFF81A325B2D</vt:lpwstr>
  </property>
</Properties>
</file>